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Arial"/>
              </a:defRPr>
            </a:pPr>
            <a:r>
              <a:t>BTP RESEARCH PRE-SUBMISSION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Helvetica"/>
              </a:defRPr>
            </a:pPr>
            <a:r>
              <a:t>Critical Analysis of ResilientDNN / 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  <a:latin typeface="Arial"/>
              </a:defRPr>
            </a:pPr>
            <a:r>
              <a:t>Rigorous Vulnerability &amp; Soundness Audit Across Threat Models, Implementation, Paper Writing, and Experimental Protocols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3072384" cy="34747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2626"/>
                </a:solidFill>
                <a:latin typeface="Arial"/>
              </a:defRPr>
            </a:pPr>
            <a:r>
              <a:t>21 Deficiencies Identified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86784" y="3657600"/>
            <a:ext cx="2066543" cy="34747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2626"/>
                </a:solidFill>
                <a:latin typeface="Arial"/>
              </a:defRPr>
            </a:pPr>
            <a:r>
              <a:t>5 Fatal P0 Flaws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3657600"/>
            <a:ext cx="3675887" cy="3474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97706"/>
                </a:solidFill>
                <a:latin typeface="Arial"/>
              </a:defRPr>
            </a:pPr>
            <a:r>
              <a:t>Code vs. Paper Desynchronization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94974" y="3657600"/>
            <a:ext cx="4379976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Immediate Pre-Submission Fixes Required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72865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617720"/>
            <a:ext cx="222496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Arial"/>
              </a:defRPr>
            </a:pPr>
            <a:r>
              <a:t>PROJECT UNDER AUDIT</a:t>
            </a:r>
          </a:p>
          <a:p>
            <a:pPr>
              <a:defRPr sz="1200" b="1">
                <a:solidFill>
                  <a:srgbClr val="0F172A"/>
                </a:solidFill>
                <a:latin typeface="Helvetica"/>
              </a:defRPr>
            </a:pPr>
            <a:r>
              <a:t>ResilientDNN / SHIELD</a:t>
            </a:r>
            <a:br/>
            <a:r>
              <a:t>(Edge Multi-Exit DNN Defense)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283" y="4617720"/>
            <a:ext cx="222496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Arial"/>
              </a:defRPr>
            </a:pPr>
            <a:r>
              <a:t>AUDIT SCOPE</a:t>
            </a:r>
          </a:p>
          <a:p>
            <a:pPr>
              <a:defRPr sz="1200" b="1">
                <a:solidFill>
                  <a:srgbClr val="0F172A"/>
                </a:solidFill>
                <a:latin typeface="Helvetica"/>
              </a:defRPr>
            </a:pPr>
            <a:r>
              <a:t>Threat Model, PyTorch Codebase,</a:t>
            </a:r>
            <a:br/>
            <a:r>
              <a:t>paper.tex &amp; report.tex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4617720"/>
            <a:ext cx="222496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Arial"/>
              </a:defRPr>
            </a:pPr>
            <a:r>
              <a:t>ACADEMIC CONTEXT</a:t>
            </a:r>
          </a:p>
          <a:p>
            <a:pPr>
              <a:defRPr sz="1200" b="1">
                <a:solidFill>
                  <a:srgbClr val="0F172A"/>
                </a:solidFill>
                <a:latin typeface="Helvetica"/>
              </a:defRPr>
            </a:pPr>
            <a:r>
              <a:t>B.Tech Project (BTP) Sem 7</a:t>
            </a:r>
            <a:br/>
            <a:r>
              <a:t>Deep Learning Security 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611" y="4617720"/>
            <a:ext cx="222496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Arial"/>
              </a:defRPr>
            </a:pPr>
            <a:r>
              <a:t>AUDIT OUTCOME</a:t>
            </a:r>
          </a:p>
          <a:p>
            <a:pPr>
              <a:defRPr sz="1200" b="1">
                <a:solidFill>
                  <a:srgbClr val="0F172A"/>
                </a:solidFill>
                <a:latin typeface="Helvetica"/>
              </a:defRPr>
            </a:pPr>
            <a:r>
              <a:t>Submission Blocked Pending</a:t>
            </a:r>
            <a:br/>
            <a:r>
              <a:t>P0 &amp; P1 Remediation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Arial"/>
              </a:defRPr>
            </a:pPr>
            <a:r>
              <a:t>EXECUTIVE AUDIT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Executive Audit: 4 Critical Failure Domains Across 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Systematic review of the codebase, paper drafts, and experiments reveals fundamental vulnerabilities that jeopardize publication.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420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9875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1. Threat Model &amp; Soundness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93392" y="1783080"/>
            <a:ext cx="1143000" cy="219456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FATAL 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37384"/>
            <a:ext cx="2267712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 dirty="0">
                <a:solidFill>
                  <a:srgbClr val="0F172A"/>
                </a:solidFill>
              </a:rPr>
              <a:t>• Software vs. Hardware: </a:t>
            </a:r>
            <a:r>
              <a:rPr b="0" dirty="0">
                <a:solidFill>
                  <a:srgbClr val="334155"/>
                </a:solidFill>
              </a:rPr>
              <a:t>Simulates in-memory Python object mutations, not DRAM </a:t>
            </a:r>
            <a:r>
              <a:rPr b="0" dirty="0" err="1">
                <a:solidFill>
                  <a:srgbClr val="334155"/>
                </a:solidFill>
              </a:rPr>
              <a:t>Rowhammer</a:t>
            </a:r>
            <a:r>
              <a:rPr b="0" dirty="0">
                <a:solidFill>
                  <a:srgbClr val="334155"/>
                </a:solidFill>
              </a:rPr>
              <a:t>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 dirty="0">
                <a:solidFill>
                  <a:srgbClr val="0F172A"/>
                </a:solidFill>
              </a:rPr>
              <a:t>• In-Memory Hashes: </a:t>
            </a:r>
            <a:r>
              <a:rPr b="0" dirty="0">
                <a:solidFill>
                  <a:srgbClr val="334155"/>
                </a:solidFill>
              </a:rPr>
              <a:t>Golden hashes computed in same process right before attack execution.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 dirty="0">
                <a:solidFill>
                  <a:srgbClr val="0F172A"/>
                </a:solidFill>
              </a:rPr>
              <a:t>• Pseudo-Adaptive Attack: </a:t>
            </a:r>
            <a:r>
              <a:rPr b="0" dirty="0">
                <a:solidFill>
                  <a:srgbClr val="334155"/>
                </a:solidFill>
              </a:rPr>
              <a:t>Attacker does not adapt to checksum; 60.8% ASR reduction is trivial by construction.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 dirty="0">
                <a:solidFill>
                  <a:srgbClr val="0F172A"/>
                </a:solidFill>
              </a:rPr>
              <a:t>• Overhead Ignored: </a:t>
            </a:r>
            <a:r>
              <a:rPr b="0" dirty="0">
                <a:solidFill>
                  <a:srgbClr val="334155"/>
                </a:solidFill>
              </a:rPr>
              <a:t>5 forward branches in SBE (C=5) introduces ~3-5x latency ignored in claims.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645920"/>
            <a:ext cx="25420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2" y="1783080"/>
            <a:ext cx="9875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2. Code Implementation Bugs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18304" y="1783080"/>
            <a:ext cx="1143000" cy="219456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CRITICAL P0/P1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404872"/>
            <a:ext cx="2267712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Normalization Drift: </a:t>
            </a:r>
            <a:r>
              <a:rPr b="0">
                <a:solidFill>
                  <a:srgbClr val="334155"/>
                </a:solidFill>
              </a:rPr>
              <a:t>Adaptive and non-adaptive scripts use different CIFAR-10 mean/std!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Trojan Data Leakage: </a:t>
            </a:r>
            <a:r>
              <a:rPr b="0">
                <a:solidFill>
                  <a:srgbClr val="334155"/>
                </a:solidFill>
              </a:rPr>
              <a:t>Trojans are trained on test set batches and evaluated on same test set.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Broken Gradient Graph: </a:t>
            </a:r>
            <a:r>
              <a:rPr b="0">
                <a:solidFill>
                  <a:srgbClr val="334155"/>
                </a:solidFill>
              </a:rPr>
              <a:t>loss.requires_grad_(True) hack injects constant 1.0 fake gradients.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Float32 Hashing: </a:t>
            </a:r>
            <a:r>
              <a:rPr b="0">
                <a:solidFill>
                  <a:srgbClr val="334155"/>
                </a:solidFill>
              </a:rPr>
              <a:t>Hashes float32 weights instead of claimed deterministic Int8 bytes.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54480"/>
            <a:ext cx="25420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8504" y="1783080"/>
            <a:ext cx="2012696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rPr dirty="0"/>
              <a:t>3. Paper &amp; Report Inconsistency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5916" y="1973072"/>
            <a:ext cx="1143000" cy="219456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rPr dirty="0"/>
              <a:t>FATAL P0/P2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240280"/>
            <a:ext cx="2267712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 dirty="0">
                <a:solidFill>
                  <a:srgbClr val="0F172A"/>
                </a:solidFill>
              </a:rPr>
              <a:t>• Metric Divergence: </a:t>
            </a:r>
            <a:r>
              <a:rPr b="0" dirty="0">
                <a:solidFill>
                  <a:srgbClr val="334155"/>
                </a:solidFill>
              </a:rPr>
              <a:t>Adaptive ASR is 15.09% in </a:t>
            </a:r>
            <a:r>
              <a:rPr b="0" dirty="0" err="1">
                <a:solidFill>
                  <a:srgbClr val="334155"/>
                </a:solidFill>
              </a:rPr>
              <a:t>paper.tex</a:t>
            </a:r>
            <a:r>
              <a:rPr b="0" dirty="0">
                <a:solidFill>
                  <a:srgbClr val="334155"/>
                </a:solidFill>
              </a:rPr>
              <a:t> but 9.79% in </a:t>
            </a:r>
            <a:r>
              <a:rPr b="0" dirty="0" err="1">
                <a:solidFill>
                  <a:srgbClr val="334155"/>
                </a:solidFill>
              </a:rPr>
              <a:t>report.tex</a:t>
            </a:r>
            <a:r>
              <a:rPr b="0" dirty="0">
                <a:solidFill>
                  <a:srgbClr val="334155"/>
                </a:solidFill>
              </a:rPr>
              <a:t>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 dirty="0">
                <a:solidFill>
                  <a:srgbClr val="0F172A"/>
                </a:solidFill>
              </a:rPr>
              <a:t>• Double Abstract: </a:t>
            </a:r>
            <a:r>
              <a:rPr b="0" dirty="0">
                <a:solidFill>
                  <a:srgbClr val="334155"/>
                </a:solidFill>
              </a:rPr>
              <a:t>Two full abstract paragraphs in </a:t>
            </a:r>
            <a:r>
              <a:rPr b="0" dirty="0" err="1">
                <a:solidFill>
                  <a:srgbClr val="334155"/>
                </a:solidFill>
              </a:rPr>
              <a:t>paper.tex</a:t>
            </a:r>
            <a:r>
              <a:rPr b="0" dirty="0">
                <a:solidFill>
                  <a:srgbClr val="334155"/>
                </a:solidFill>
              </a:rPr>
              <a:t> (immediate IEEE desk reject).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 dirty="0">
                <a:solidFill>
                  <a:srgbClr val="0F172A"/>
                </a:solidFill>
              </a:rPr>
              <a:t>• Wrong Aegis Citation: </a:t>
            </a:r>
            <a:r>
              <a:rPr b="0" dirty="0" err="1">
                <a:solidFill>
                  <a:srgbClr val="334155"/>
                </a:solidFill>
              </a:rPr>
              <a:t>report.tex</a:t>
            </a:r>
            <a:r>
              <a:rPr b="0" dirty="0">
                <a:solidFill>
                  <a:srgbClr val="334155"/>
                </a:solidFill>
              </a:rPr>
              <a:t> cites DAC 2021 weight reconstruction instead of USENIX 2023.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 dirty="0">
                <a:solidFill>
                  <a:srgbClr val="0F172A"/>
                </a:solidFill>
              </a:rPr>
              <a:t>• Missing Figure Assets: </a:t>
            </a:r>
            <a:r>
              <a:rPr b="0" dirty="0" err="1">
                <a:solidFill>
                  <a:srgbClr val="334155"/>
                </a:solidFill>
              </a:rPr>
              <a:t>paper.tex</a:t>
            </a:r>
            <a:r>
              <a:rPr b="0" dirty="0">
                <a:solidFill>
                  <a:srgbClr val="334155"/>
                </a:solidFill>
              </a:rPr>
              <a:t> references </a:t>
            </a:r>
            <a:r>
              <a:rPr b="0" dirty="0" err="1">
                <a:solidFill>
                  <a:srgbClr val="334155"/>
                </a:solidFill>
              </a:rPr>
              <a:t>fig_sdn_architecture_mod.png</a:t>
            </a:r>
            <a:r>
              <a:rPr b="0" dirty="0">
                <a:solidFill>
                  <a:srgbClr val="334155"/>
                </a:solidFill>
              </a:rPr>
              <a:t> which does not exist.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1645920"/>
            <a:ext cx="25420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43416" y="1783080"/>
            <a:ext cx="1561084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rPr dirty="0"/>
              <a:t>4. Experimental Deficiencies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55682" y="1960372"/>
            <a:ext cx="1143000" cy="219456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rPr dirty="0"/>
              <a:t>MAJOR P1/P2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240280"/>
            <a:ext cx="2267712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 dirty="0">
                <a:solidFill>
                  <a:srgbClr val="0F172A"/>
                </a:solidFill>
              </a:rPr>
              <a:t>• Zero Ablations: </a:t>
            </a:r>
            <a:r>
              <a:rPr b="0" dirty="0">
                <a:solidFill>
                  <a:srgbClr val="334155"/>
                </a:solidFill>
              </a:rPr>
              <a:t>No parametric sweeps for ensemble size C=5 or pruning threshold M=4.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 dirty="0">
                <a:solidFill>
                  <a:srgbClr val="0F172A"/>
                </a:solidFill>
              </a:rPr>
              <a:t>• Single-Dataset Benchmark: </a:t>
            </a:r>
            <a:r>
              <a:rPr b="0" dirty="0">
                <a:solidFill>
                  <a:srgbClr val="334155"/>
                </a:solidFill>
              </a:rPr>
              <a:t>Conference paper evaluates only CIFAR-10 despite multi-dataset code.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 dirty="0">
                <a:solidFill>
                  <a:srgbClr val="0F172A"/>
                </a:solidFill>
              </a:rPr>
              <a:t>• No Statistical Variance: </a:t>
            </a:r>
            <a:r>
              <a:rPr b="0" dirty="0">
                <a:solidFill>
                  <a:srgbClr val="334155"/>
                </a:solidFill>
              </a:rPr>
              <a:t>Zero error bars or multi-seed trials; SBE results are single point estimates.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 dirty="0">
                <a:solidFill>
                  <a:srgbClr val="0F172A"/>
                </a:solidFill>
              </a:rPr>
              <a:t>• Weaker Baseline: </a:t>
            </a:r>
            <a:r>
              <a:rPr b="0" dirty="0">
                <a:solidFill>
                  <a:srgbClr val="334155"/>
                </a:solidFill>
              </a:rPr>
              <a:t>Reproduced Aegis baseline has 38.5% ASR vs published 31.1% without explanation.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DC2626"/>
                </a:solidFill>
              </a:rPr>
              <a:t>Triage Summary:  </a:t>
            </a:r>
            <a:r>
              <a:rPr>
                <a:solidFill>
                  <a:srgbClr val="334155"/>
                </a:solidFill>
              </a:rPr>
              <a:t>A total of 21 vulnerabilities were discovered: 5 P0 (Fatal Flaws), 6 P1 (Major Methodological Issues), 6 P2 (Formatting/Rigor Flaws), and 4 P3 (Hygiene Items).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Arial"/>
              </a:defRPr>
            </a:pPr>
            <a:r>
              <a:t>FUNDAMENTAL RESEARCH SOUNDNESS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P0 Flaw 1: Software In-Process Tampering vs. Physical Rowhammer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The paper claims defense against physical hardware bit-flip attacks, but tests in-memory Python object mutations.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30368" cy="41605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34930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What The Code Actually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90288" y="1828800"/>
            <a:ext cx="1143000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IN-PROCESS SOFTWARE FLIP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773168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In-Process Checksumming: </a:t>
            </a:r>
            <a:r>
              <a:rPr b="0">
                <a:solidFill>
                  <a:srgbClr val="334155"/>
                </a:solidFill>
              </a:rPr>
              <a:t>golden_checksums is calculated in Python right before attack execution in the same process address space.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Direct Tensor Manipulation: </a:t>
            </a:r>
            <a:r>
              <a:rPr b="0">
                <a:solidFill>
                  <a:srgbClr val="334155"/>
                </a:solidFill>
              </a:rPr>
              <a:t>The attack directly mutates PyTorch tensor values in CPU/GPU RAM using standard in-place assignment.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Trivial Detection: </a:t>
            </a:r>
            <a:r>
              <a:rPr b="0">
                <a:solidFill>
                  <a:srgbClr val="334155"/>
                </a:solidFill>
              </a:rPr>
              <a:t>Recomputing the SHA-256 hash immediately catches the modified tensor because pristine weights are still resident in memory.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Shared Security Boundary: </a:t>
            </a:r>
            <a:r>
              <a:rPr b="0">
                <a:solidFill>
                  <a:srgbClr val="334155"/>
                </a:solidFill>
              </a:rPr>
              <a:t>The adversary, victim model, and defense controller all execute with identical permissions inside the same Python runtime.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Root Problem: </a:t>
            </a:r>
            <a:r>
              <a:rPr b="0">
                <a:solidFill>
                  <a:srgbClr val="334155"/>
                </a:solidFill>
              </a:rPr>
              <a:t>Zero interaction with DRAM hardware controllers, memory controllers, physical banks, or unprivileged execution boundaries.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3036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34930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Genuine Physical Rowhammer Threat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76688" y="1828800"/>
            <a:ext cx="1143000" cy="21945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REAL HARDWARE ATTACK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4773168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Hardware Fault Injection: </a:t>
            </a:r>
            <a:r>
              <a:rPr b="0">
                <a:solidFill>
                  <a:srgbClr val="334155"/>
                </a:solidFill>
              </a:rPr>
              <a:t>Attacker induces electrical cross-talk in physical DRAM rows to toggle capacitor charges across memory protection boundaries.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Isolated Golden Hashes: </a:t>
            </a:r>
            <a:r>
              <a:rPr b="0">
                <a:solidFill>
                  <a:srgbClr val="334155"/>
                </a:solidFill>
              </a:rPr>
              <a:t>Golden digests must be provisioned at factory time into a Root-of-Trust (TPM, eFuse, or secure ROM).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Asynchronous Corruption: </a:t>
            </a:r>
            <a:r>
              <a:rPr b="0">
                <a:solidFill>
                  <a:srgbClr val="334155"/>
                </a:solidFill>
              </a:rPr>
              <a:t>Bits are flipped in DRAM rows while the system is live; inference engine subsequently reads corrupted DRAM into cache.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Untrusted Address Space: </a:t>
            </a:r>
            <a:r>
              <a:rPr b="0">
                <a:solidFill>
                  <a:srgbClr val="334155"/>
                </a:solidFill>
              </a:rPr>
              <a:t>Operating system and application runtime cannot trust general host memory without hardware attestation.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Critical Gap: </a:t>
            </a:r>
            <a:r>
              <a:rPr b="0">
                <a:solidFill>
                  <a:srgbClr val="334155"/>
                </a:solidFill>
              </a:rPr>
              <a:t>Claiming defense against physical Rowhammer while testing in-process PyTorch modification is a fatal threat model mismatch.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DC2626"/>
                </a:solidFill>
              </a:rPr>
              <a:t>Reviewer Verdict:  </a:t>
            </a:r>
            <a:r>
              <a:rPr>
                <a:solidFill>
                  <a:srgbClr val="334155"/>
                </a:solidFill>
              </a:rPr>
              <a:t>A hardware security or adversarial ML reviewer will immediately reject the paper for conflating in-memory software tensor tampering with hardware DRAM Rowhammer faults.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Arial"/>
              </a:defRPr>
            </a:pPr>
            <a:r>
              <a:t>ARCHITECTURAL INCONSISTENCY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P0 Flaw 2: Code Hashes Backbone Blocks; Paper Claims IC-Level Hashing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Algorithm 2 in the paper describes per-IC hashing and independent trust masks, but the code hashes full backbone blocks and bulk-quarantines.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62179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Mathematical Claim vs. Code Reality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828800"/>
            <a:ext cx="1143000" cy="219456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SYSTEM DESYNC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57607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Paper Claim (Algorithm 2): </a:t>
            </a:r>
            <a:r>
              <a:rPr b="0">
                <a:solidFill>
                  <a:srgbClr val="334155"/>
                </a:solidFill>
              </a:rPr>
              <a:t>Checksums are computed over each Internal Classifier (IC) head independently, assigning a binary trust mask μ_k per IC.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Paper Claim (512-Byte Storage): </a:t>
            </a:r>
            <a:r>
              <a:rPr b="0">
                <a:solidFill>
                  <a:srgbClr val="334155"/>
                </a:solidFill>
              </a:rPr>
              <a:t>Section 6.1 claims storing all 16 golden hashes requires only 16 x 32 = 512 bytes, covering 64 x 10 = 640 weights per IC.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Code Reality (Backbone Hashing): </a:t>
            </a:r>
            <a:r>
              <a:rPr b="0">
                <a:solidFill>
                  <a:srgbClr val="334155"/>
                </a:solidFill>
              </a:rPr>
              <a:t>get_backbone_blocks(net) hashes 17 entire backbone residual blocks (convolutions, batch norm running stats, etc.).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Code Reality (Zero IC Hashing): </a:t>
            </a:r>
            <a:r>
              <a:rPr b="0">
                <a:solidFill>
                  <a:srgbClr val="334155"/>
                </a:solidFill>
              </a:rPr>
              <a:t>The code NEVER computes checksums for IC weights at all; only backbone feature extractors are hashed!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Quarantine Mechanism: </a:t>
            </a:r>
            <a:r>
              <a:rPr b="0">
                <a:solidFill>
                  <a:srgbClr val="334155"/>
                </a:solidFill>
              </a:rPr>
              <a:t>Code finds first_compromised_idx and executes bulk prefix quarantine list(range(k)), unlike the per-IC masking claimed.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Math Contradiction: </a:t>
            </a:r>
            <a:r>
              <a:rPr b="0">
                <a:solidFill>
                  <a:srgbClr val="334155"/>
                </a:solidFill>
              </a:rPr>
              <a:t>Hashing 17 full residual blocks requires hashing millions of parameters, violating the 512-byte lightweight storage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645920"/>
            <a:ext cx="4327855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60920" y="182880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ResNet-32 Multi-Exit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1828800"/>
            <a:ext cx="1143000" cy="21945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FIGURE AUDIT</a:t>
            </a:r>
          </a:p>
        </p:txBody>
      </p:sp>
      <p:pic>
        <p:nvPicPr>
          <p:cNvPr id="14" name="Picture 13" descr="fig_sd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240280"/>
            <a:ext cx="3959352" cy="15660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60920" y="4206240"/>
            <a:ext cx="38404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IC Heads (Paper): </a:t>
            </a:r>
            <a:r>
              <a:rPr b="0">
                <a:solidFill>
                  <a:srgbClr val="334155"/>
                </a:solidFill>
              </a:rPr>
              <a:t>Attached to residual blocks; paper claims hashing only these exit layers.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Backbone (Code): </a:t>
            </a:r>
            <a:r>
              <a:rPr b="0">
                <a:solidFill>
                  <a:srgbClr val="334155"/>
                </a:solidFill>
              </a:rPr>
              <a:t>Shared conv trunk; code hashes this trunk instead of the exits.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DC2626"/>
                </a:solidFill>
              </a:rPr>
              <a:t>Direct Consequence:  </a:t>
            </a:r>
            <a:r>
              <a:rPr>
                <a:solidFill>
                  <a:srgbClr val="334155"/>
                </a:solidFill>
              </a:rPr>
              <a:t>The mathematical formulation, the algorithmic pseudocode, the memory overhead claims, and the Python implementation describe three mutually incompatible architectures.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Arial"/>
              </a:defRPr>
            </a:pPr>
            <a:r>
              <a:t>EXPERIMENT SOUNDNESS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P0 Flaw 3: Adaptive Attack is Guaranteed to Fail by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Phase 2's reported 60.8% ASR reduction is an automatic artifact of experimental setup, not empirical defense efficacy.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1. Attacker is Not Checksum-Aware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828800"/>
            <a:ext cx="1143000" cy="219456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TRIVIAL ENEMY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309067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Flips 9 Layers: </a:t>
            </a:r>
            <a:r>
              <a:rPr b="0">
                <a:solidFill>
                  <a:srgbClr val="334155"/>
                </a:solidFill>
              </a:rPr>
              <a:t>Optimizes bit flips across multiple layers, but ignores checksum defense presence entirely.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No Collision Attempt: </a:t>
            </a:r>
            <a:r>
              <a:rPr b="0">
                <a:solidFill>
                  <a:srgbClr val="334155"/>
                </a:solidFill>
              </a:rPr>
              <a:t>Does not attempt cryptographic hash collisions or bit adjustments to match SHA-256 digests.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No Tampering with Hashes: </a:t>
            </a:r>
            <a:r>
              <a:rPr b="0">
                <a:solidFill>
                  <a:srgbClr val="334155"/>
                </a:solidFill>
              </a:rPr>
              <a:t>Does not attack the stored golden hashes in Python memory.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Summary: </a:t>
            </a:r>
            <a:r>
              <a:rPr b="0">
                <a:solidFill>
                  <a:srgbClr val="334155"/>
                </a:solidFill>
              </a:rPr>
              <a:t>The attacker is multi-layer, but completely blind to the checksum defense mechanism.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45920"/>
            <a:ext cx="3456432" cy="41605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82880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2. 100% Detection by Construction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1384" y="1828800"/>
            <a:ext cx="1143000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TAUTOLOGY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331720"/>
            <a:ext cx="309067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Mathematical Certainty: </a:t>
            </a:r>
            <a:r>
              <a:rPr b="0">
                <a:solidFill>
                  <a:srgbClr val="334155"/>
                </a:solidFill>
              </a:rPr>
              <a:t>SHA-256 will always detect ANY bit change in covered tensors by avalanche effect.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Artifact, Not Finding: </a:t>
            </a:r>
            <a:r>
              <a:rPr b="0">
                <a:solidFill>
                  <a:srgbClr val="334155"/>
                </a:solidFill>
              </a:rPr>
              <a:t>The 60.8% ASR reduction is guaranteed the moment any flipped layer is monitored.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Illusion of Superiority: </a:t>
            </a:r>
            <a:r>
              <a:rPr b="0">
                <a:solidFill>
                  <a:srgbClr val="334155"/>
                </a:solidFill>
              </a:rPr>
              <a:t>Comparing against undefended baseline creates an illusion of empirical victory where failure was impossible.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Scientific Invalidity: </a:t>
            </a:r>
            <a:r>
              <a:rPr b="0">
                <a:solidFill>
                  <a:srgbClr val="334155"/>
                </a:solidFill>
              </a:rPr>
              <a:t>A tautological defense test does not evaluate real-world security.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4592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93024" y="182880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3. How True Adaptive Attacker Wins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0696" y="1828800"/>
            <a:ext cx="1143000" cy="21945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FATAL BLINDSPOT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331720"/>
            <a:ext cx="309067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Targeting Backbone Weights: </a:t>
            </a:r>
            <a:r>
              <a:rPr b="0">
                <a:solidFill>
                  <a:srgbClr val="334155"/>
                </a:solidFill>
              </a:rPr>
              <a:t>If only IC heads are checksummed (as paper claims), attacker targets the shared backbone convolution trunk.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Total Defense Bypass: </a:t>
            </a:r>
            <a:r>
              <a:rPr b="0">
                <a:solidFill>
                  <a:srgbClr val="334155"/>
                </a:solidFill>
              </a:rPr>
              <a:t>Corrupted shared representations deceive all exit heads simultaneously while IC hashes remain 100% valid!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Zero Alarms Triggered: </a:t>
            </a:r>
            <a:r>
              <a:rPr b="0">
                <a:solidFill>
                  <a:srgbClr val="334155"/>
                </a:solidFill>
              </a:rPr>
              <a:t>Inference engine executes corrupted model without quarantining a single exit.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Paper Omission: </a:t>
            </a:r>
            <a:r>
              <a:rPr b="0">
                <a:solidFill>
                  <a:srgbClr val="334155"/>
                </a:solidFill>
              </a:rPr>
              <a:t>This attack vector completely breaks the claimed defense, but was never tested.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DC2626"/>
                </a:solidFill>
              </a:rPr>
              <a:t>Core Critique:  </a:t>
            </a:r>
            <a:r>
              <a:rPr>
                <a:solidFill>
                  <a:srgbClr val="334155"/>
                </a:solidFill>
              </a:rPr>
              <a:t>A true adaptive adversary bypasses IC-level defenses by corrupting shared representations. The paper tests a naive adversary that plays directly into the hash trap.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Arial"/>
              </a:defRPr>
            </a:pPr>
            <a:r>
              <a:t>REPRODUCIBILITY &amp; DATA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P0 Flaw 4 &amp; 5: Severe Inconsistencies Between paper.tex and report.tex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Key evaluation metrics directly contradict each other between project manuscripts, creating an acute credibility failure.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Helvetica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Evaluation Metric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Helvetica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paper.tex (Conference)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Helvetica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report.tex (BTP Report)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Helvetica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Numerical Delta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Helvetica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Audit Severity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0F172A"/>
                          </a:solidFill>
                        </a:rPr>
                        <a:t>Adaptive ASR (Defended)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 b="1">
                          <a:solidFill>
                            <a:srgbClr val="334155"/>
                          </a:solidFill>
                        </a:rPr>
                        <a:t>15.09%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9.79%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Δ = 5.30% (Dramatic)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 b="1">
                          <a:solidFill>
                            <a:srgbClr val="334155"/>
                          </a:solidFill>
                        </a:rPr>
                        <a:t>🔴 P0 Fatal Contradiction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0F172A"/>
                          </a:solidFill>
                        </a:rPr>
                        <a:t>Non-Adaptive ASR (Defended)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11.67%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12.62%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Δ = 0.95% (Mismatched)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 b="1">
                          <a:solidFill>
                            <a:srgbClr val="334155"/>
                          </a:solidFill>
                        </a:rPr>
                        <a:t>🔴 P0 Fatal Contradiction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0F172A"/>
                          </a:solidFill>
                        </a:rPr>
                        <a:t>Adaptive CDA (Defended Clean Acc)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83.02%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90.66%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Δ = 7.64% (Different Regimes)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 b="1">
                          <a:solidFill>
                            <a:srgbClr val="334155"/>
                          </a:solidFill>
                        </a:rPr>
                        <a:t>🔴 P0 Fatal Contradiction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0F172A"/>
                          </a:solidFill>
                        </a:rPr>
                        <a:t>Non-Adaptive CDA (Defended Clean Acc)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89.93%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90.30%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Δ = 0.37% (Mismatched)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 b="1">
                          <a:solidFill>
                            <a:srgbClr val="334155"/>
                          </a:solidFill>
                        </a:rPr>
                        <a:t>🔴 P0 Fatal Contradiction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0F172A"/>
                          </a:solidFill>
                        </a:rPr>
                        <a:t>Figure 4 Caption vs. Table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Clean Acc &gt; 90.6%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Matches 90.66%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Table 1 says 83.02%!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 b="1">
                          <a:solidFill>
                            <a:srgbClr val="334155"/>
                          </a:solidFill>
                        </a:rPr>
                        <a:t>🔴 Internal Discrepancy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0F172A"/>
                          </a:solidFill>
                        </a:rPr>
                        <a:t>Figure 3 Caption vs. Table 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ASR ~ 10% (Random Guess)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Matches 9.79%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 b="1">
                          <a:solidFill>
                            <a:srgbClr val="334155"/>
                          </a:solidFill>
                        </a:rPr>
                        <a:t>Table 1 says 15.09%!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 b="1">
                          <a:solidFill>
                            <a:srgbClr val="334155"/>
                          </a:solidFill>
                        </a:rPr>
                        <a:t>🔴 Internal Discrepancy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389120"/>
            <a:ext cx="1072865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4498848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Root Causes &amp; Internal Collisions Across Manuscripts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4498848"/>
            <a:ext cx="1143000" cy="219456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AUDIT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828032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Two Divergent Experimental Runs: </a:t>
            </a:r>
            <a:r>
              <a:rPr b="0">
                <a:solidFill>
                  <a:srgbClr val="334155"/>
                </a:solidFill>
              </a:rPr>
              <a:t>paper.tex and report.tex were generated from entirely different experimental executions with different hyperparameters.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Internal Caption Collisions in paper.tex: </a:t>
            </a:r>
            <a:r>
              <a:rPr b="0">
                <a:solidFill>
                  <a:srgbClr val="334155"/>
                </a:solidFill>
              </a:rPr>
              <a:t>Fig. 4 caption states Phase 2 maintains accuracy 'above 90.6%', while Table 1 on the exact same page states 83.02%.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Fig. 3 Caption Conflict: </a:t>
            </a:r>
            <a:r>
              <a:rPr b="0">
                <a:solidFill>
                  <a:srgbClr val="334155"/>
                </a:solidFill>
              </a:rPr>
              <a:t>Fig. 3 caption asserts ASR remains near random guessing level (~10%), while the table reports 15.09%.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Fatal Submission Risk: </a:t>
            </a:r>
            <a:r>
              <a:rPr b="0">
                <a:solidFill>
                  <a:srgbClr val="334155"/>
                </a:solidFill>
              </a:rPr>
              <a:t>Reviewers comparing numbers across versions or cross-referencing captions will flag fraudulent or careless reporting.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DC2626"/>
                </a:solidFill>
              </a:rPr>
              <a:t>Zero-Tolerance Issue:  </a:t>
            </a:r>
            <a:r>
              <a:rPr>
                <a:solidFill>
                  <a:srgbClr val="334155"/>
                </a:solidFill>
              </a:rPr>
              <a:t>A single paper cannot contain conflicting numbers across its abstract, tables, and figure captions. A unified single source of truth is mandatory.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Arial"/>
              </a:defRPr>
            </a:pPr>
            <a:r>
              <a:t>CODE INTEGRITY AUDIT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Code-Level Flaws: Preprocessing Drift &amp; Test Data Contamination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Silent bugs in dataset preprocessing, trojan training, and loss backpropagation invalidate comparative results.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30368" cy="2011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584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2.1 Normalization Stats Mismatch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6008" y="1783080"/>
            <a:ext cx="1143000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P0 FATAL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864608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Non-Adaptive Script (line 97): </a:t>
            </a:r>
            <a:r>
              <a:rPr b="0">
                <a:solidFill>
                  <a:srgbClr val="334155"/>
                </a:solidFill>
              </a:rPr>
              <a:t>mean = [125.3, 123.0, 113.9]/255, std = [63.0, 62.1, 66.7]/255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Adaptive Script (line 92): </a:t>
            </a:r>
            <a:r>
              <a:rPr b="0">
                <a:solidFill>
                  <a:srgbClr val="334155"/>
                </a:solidFill>
              </a:rPr>
              <a:t>mean = [129.3, 124.1, 112.4]/255, std = [68.2, 65.4, 70.4]/255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Fatal Impact: </a:t>
            </a:r>
            <a:r>
              <a:rPr b="0">
                <a:solidFill>
                  <a:srgbClr val="334155"/>
                </a:solidFill>
              </a:rPr>
              <a:t>The two attacks are evaluated on different input distributions! Results cannot be compared side-by-side.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30368" cy="2011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3584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2.3 Trojan Training on Test 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22408" y="1783080"/>
            <a:ext cx="1143000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P1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4864608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Code Reality (line 874): </a:t>
            </a:r>
            <a:r>
              <a:rPr b="0">
                <a:solidFill>
                  <a:srgbClr val="334155"/>
                </a:solidFill>
              </a:rPr>
              <a:t>for t, (x, y) in enumerate(loader_test): in the 200-epoch trojan insertion loop.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Double Dipping: </a:t>
            </a:r>
            <a:r>
              <a:rPr b="0">
                <a:solidFill>
                  <a:srgbClr val="334155"/>
                </a:solidFill>
              </a:rPr>
              <a:t>Evaluation subsequently runs on the exact same loader_test split.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Fatal Impact: </a:t>
            </a:r>
            <a:r>
              <a:rPr b="0">
                <a:solidFill>
                  <a:srgbClr val="334155"/>
                </a:solidFill>
              </a:rPr>
              <a:t>The trojan trigger is fitted directly to the test evaluation data, artificially inflating ASR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52303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3584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2.2 Unequal Weight Budgets (wb)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36008" y="3977639"/>
            <a:ext cx="1143000" cy="219456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P2 RIGOR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4864608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Non-Adaptive Script: </a:t>
            </a:r>
            <a:r>
              <a:rPr b="0">
                <a:solidFill>
                  <a:srgbClr val="334155"/>
                </a:solidFill>
              </a:rPr>
              <a:t>wb = 13 (targets 13 critical weight neurons during NGR search).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Adaptive Script: </a:t>
            </a:r>
            <a:r>
              <a:rPr b="0">
                <a:solidFill>
                  <a:srgbClr val="334155"/>
                </a:solidFill>
              </a:rPr>
              <a:t>wb = 1 (targets only 1 neuron per targeted layer).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Fatal Impact: </a:t>
            </a:r>
            <a:r>
              <a:rPr b="0">
                <a:solidFill>
                  <a:srgbClr val="334155"/>
                </a:solidFill>
              </a:rPr>
              <a:t>Comparing a 13-neuron attack against a 1-neuron attack side-by-side masks the true strength of the adaptive adversary.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840480"/>
            <a:ext cx="52303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977639"/>
            <a:ext cx="3584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2.4 loss.requires_grad_(True) Hack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22408" y="3977639"/>
            <a:ext cx="1143000" cy="219456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P1 CODE SMELL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43400"/>
            <a:ext cx="4864608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Code Smell (line 906): </a:t>
            </a:r>
            <a:r>
              <a:rPr b="0">
                <a:solidFill>
                  <a:srgbClr val="334155"/>
                </a:solidFill>
              </a:rPr>
              <a:t>loss.requires_grad_(True); loss.backward() in TBT_adaptive_ensemble.py.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Broken Graph: </a:t>
            </a:r>
            <a:r>
              <a:rPr b="0">
                <a:solidFill>
                  <a:srgbClr val="334155"/>
                </a:solidFill>
              </a:rPr>
              <a:t>Computation graph was severed (calling net.eval() without enabling param gradients).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Fatal Impact: </a:t>
            </a:r>
            <a:r>
              <a:rPr b="0">
                <a:solidFill>
                  <a:srgbClr val="334155"/>
                </a:solidFill>
              </a:rPr>
              <a:t>Injects a fake constant gradient of 1.0; does not compute genuine gradients through model layers.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DC2626"/>
                </a:solidFill>
              </a:rPr>
              <a:t>Root Takeaway:  </a:t>
            </a:r>
            <a:r>
              <a:rPr>
                <a:solidFill>
                  <a:srgbClr val="334155"/>
                </a:solidFill>
              </a:rPr>
              <a:t>Evaluating attacks on different distributions, training trojans on test splits, and hacking gradient backpropagation compromises experimental integrity.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Arial"/>
              </a:defRPr>
            </a:pPr>
            <a:r>
              <a:t>CODE INTEGRITY AUDIT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Code-Level Flaws: Float Hashing &amp; Magic Hardcoding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Theoretical claims of deterministic hashing fail due to float32 hashing, brittle layer indices, and dead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Float32 vs. Int8 Hashing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828800"/>
            <a:ext cx="1143000" cy="219456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P1 MISMATCH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309067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Paper Theoretical Claim: </a:t>
            </a:r>
            <a:r>
              <a:rPr b="0">
                <a:solidFill>
                  <a:srgbClr val="334155"/>
                </a:solidFill>
              </a:rPr>
              <a:t>Because integer byte representations are strictly deterministic... SHA-256 produces zero false alarms.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Actual Code Implementation: </a:t>
            </a:r>
            <a:r>
              <a:rPr b="0">
                <a:solidFill>
                  <a:srgbClr val="334155"/>
                </a:solidFill>
              </a:rPr>
              <a:t>compute_module_checksum hashes raw float32 param.detach().cpu().numpy().tobytes().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Quantization on the Fly: </a:t>
            </a:r>
            <a:r>
              <a:rPr b="0">
                <a:solidFill>
                  <a:srgbClr val="334155"/>
                </a:solidFill>
              </a:rPr>
              <a:t>Quantized Int8 integers are only computed dynamically inside forward()!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Cross-Platform Failure: </a:t>
            </a:r>
            <a:r>
              <a:rPr b="0">
                <a:solidFill>
                  <a:srgbClr val="334155"/>
                </a:solidFill>
              </a:rPr>
              <a:t>Float32 byte representations vary across BLAS, CUDA, and CPU compilers, triggering false positive checksum alarms in production.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4592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82880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Hardcoded Layer Numbers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1384" y="1828800"/>
            <a:ext cx="1143000" cy="219456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P2 FRAGILITY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286000"/>
            <a:ext cx="309067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Magic Numbers in Code: </a:t>
            </a:r>
            <a:r>
              <a:rPr b="0">
                <a:solidFill>
                  <a:srgbClr val="334155"/>
                </a:solidFill>
              </a:rPr>
              <a:t>if n==166 or n==214 or n==238 or n==262 or n==286 or n==310 or n==334 or n==358 or n==368: in line 864.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Non-Adaptive Uses Only One: </a:t>
            </a:r>
            <a:r>
              <a:rPr b="0">
                <a:solidFill>
                  <a:srgbClr val="334155"/>
                </a:solidFill>
              </a:rPr>
              <a:t>Non-adaptive script targets only n==368 (1 layer), while adaptive targets 9 layers!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Zero Portability: </a:t>
            </a:r>
            <a:r>
              <a:rPr b="0">
                <a:solidFill>
                  <a:srgbClr val="334155"/>
                </a:solidFill>
              </a:rPr>
              <a:t>Any change to network depth, skip connections, or stem layers silently redirects bit flips to random wrong layers.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Maintenance Nightmare: </a:t>
            </a:r>
            <a:r>
              <a:rPr b="0">
                <a:solidFill>
                  <a:srgbClr val="334155"/>
                </a:solidFill>
              </a:rPr>
              <a:t>No assertions or name-matching to verify which tensor is actually being attacked.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4592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93024" y="182880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Dead Code &amp; Concurrency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0696" y="1828800"/>
            <a:ext cx="1143000" cy="219456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P3 HYGIENE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286000"/>
            <a:ext cx="309067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Unused Trust Mask: </a:t>
            </a:r>
            <a:r>
              <a:rPr b="0">
                <a:solidFill>
                  <a:srgbClr val="334155"/>
                </a:solidFill>
              </a:rPr>
              <a:t>trust_mask = torch.ones(3) is allocated in validate() but never referenced anywhere in execution.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Dead Variables: </a:t>
            </a:r>
            <a:r>
              <a:rPr b="0">
                <a:solidFill>
                  <a:srgbClr val="334155"/>
                </a:solidFill>
              </a:rPr>
              <a:t>exit_b1 through exit_m, top_list, decision, output_summary initialized but never written.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Ghost Classes: </a:t>
            </a:r>
            <a:r>
              <a:rPr b="0">
                <a:solidFill>
                  <a:srgbClr val="334155"/>
                </a:solidFill>
              </a:rPr>
              <a:t>_Quantize class defined but unused (quantization handled inside modules).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Worker Inconsistency: </a:t>
            </a:r>
            <a:r>
              <a:rPr b="0">
                <a:solidFill>
                  <a:srgbClr val="334155"/>
                </a:solidFill>
              </a:rPr>
              <a:t>Adaptive uses num_workers=2, non-adaptive uses num_workers=0, causing batch order discrepancies.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DC2626"/>
                </a:solidFill>
              </a:rPr>
              <a:t>Architectural Debt:  </a:t>
            </a:r>
            <a:r>
              <a:rPr>
                <a:solidFill>
                  <a:srgbClr val="334155"/>
                </a:solidFill>
              </a:rPr>
              <a:t>A secure defense framework cannot rely on float representation heuristics, undocumented magic layer constants, or unmaintained dead code blocks.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Arial"/>
              </a:defRPr>
            </a:pPr>
            <a:r>
              <a:t>MANUSCRIPT QUALITY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Paper Writing &amp; LaTeX Defects: Immediate Desk-Reject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Formatting violations, missing figure files, conflicting packages, and erroneous citations will trigger immediate rejection.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30368" cy="2011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584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Double Abstract in paper.tex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6008" y="1783080"/>
            <a:ext cx="1143000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DESK REJECT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864608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Fatal Formatting Error: </a:t>
            </a:r>
            <a:r>
              <a:rPr b="0">
                <a:solidFill>
                  <a:srgbClr val="334155"/>
                </a:solidFill>
              </a:rPr>
              <a:t>Lines 65–71 contain two full abstract paragraphs inside \begin{abstract}.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Draft Collision: </a:t>
            </a:r>
            <a:r>
              <a:rPr b="0">
                <a:solidFill>
                  <a:srgbClr val="334155"/>
                </a:solidFill>
              </a:rPr>
              <a:t>One paragraph is clearly an unedited earlier draft left in active LaTeX source.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IEEE Violation: </a:t>
            </a:r>
            <a:r>
              <a:rPr b="0">
                <a:solidFill>
                  <a:srgbClr val="334155"/>
                </a:solidFill>
              </a:rPr>
              <a:t>IEEE conference guidelines strictly require a single abstract paragraph &lt;= 150 words.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303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3584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LaTeX Package Conflicts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22408" y="1783080"/>
            <a:ext cx="1143000" cy="219456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COMPILER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4864608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Multiple Imports: </a:t>
            </a:r>
            <a:r>
              <a:rPr b="0">
                <a:solidFill>
                  <a:srgbClr val="334155"/>
                </a:solidFill>
              </a:rPr>
              <a:t>\usepackage{graphicx} imported 3 times; tabularx imported twice.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Package Option Clash: </a:t>
            </a:r>
            <a:r>
              <a:rPr b="0">
                <a:solidFill>
                  <a:srgbClr val="334155"/>
                </a:solidFill>
              </a:rPr>
              <a:t>\usepackage{xcolor} imported plain (line 12) and with [table] (line 28).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Build Failure: </a:t>
            </a:r>
            <a:r>
              <a:rPr b="0">
                <a:solidFill>
                  <a:srgbClr val="334155"/>
                </a:solidFill>
              </a:rPr>
              <a:t>Option clashes cause LaTeX compiler halts on standard submission portals.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5230368" cy="2011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3584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Wrong Aegis Citation in report.tex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36008" y="3977639"/>
            <a:ext cx="1143000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FALSE CITATION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4864608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Wrong Paper Cited: </a:t>
            </a:r>
            <a:r>
              <a:rPr b="0">
                <a:solidFill>
                  <a:srgbClr val="334155"/>
                </a:solidFill>
              </a:rPr>
              <a:t>report.tex cites Li et al. DAC 2021 ('Defending BFA through DNN Weight Reconstruction').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Actual Benchmark: </a:t>
            </a:r>
            <a:r>
              <a:rPr b="0">
                <a:solidFill>
                  <a:srgbClr val="334155"/>
                </a:solidFill>
              </a:rPr>
              <a:t>Aegis is J. Wang et al., USENIX Security 2023 ('Aegis: Mitigating targeted bit-flip attacks').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Academic Consequence: </a:t>
            </a:r>
            <a:r>
              <a:rPr b="0">
                <a:solidFill>
                  <a:srgbClr val="334155"/>
                </a:solidFill>
              </a:rPr>
              <a:t>Citing a completely different baseline paper severely undermines scholarly credibility.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840480"/>
            <a:ext cx="52303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977639"/>
            <a:ext cx="358444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Missing Assets &amp; Contribution Claims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22408" y="3977639"/>
            <a:ext cx="1143000" cy="219456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REVIEWER RED FLAG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43400"/>
            <a:ext cx="4864608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Missing PNG Figures: </a:t>
            </a:r>
            <a:r>
              <a:rPr b="0">
                <a:solidFill>
                  <a:srgbClr val="334155"/>
                </a:solidFill>
              </a:rPr>
              <a:t>paper.tex includes fig_sdn_architecture_mod.png (line 251) which does not exist.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Naive Contribution: </a:t>
            </a:r>
            <a:r>
              <a:rPr b="0">
                <a:solidFill>
                  <a:srgbClr val="334155"/>
                </a:solidFill>
              </a:rPr>
              <a:t>Bullet 3 in Section 1 claims 'Dual-Algorithm Formalization' (writing pseudocode) as a top contribution.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No Related Work Section: </a:t>
            </a:r>
            <a:r>
              <a:rPr b="0">
                <a:solidFill>
                  <a:srgbClr val="334155"/>
                </a:solidFill>
              </a:rPr>
              <a:t>Paper jumps straight from Background to Architecture, omitting prior attestation literature.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DC2626"/>
                </a:solidFill>
              </a:rPr>
              <a:t>Editorial Imperative:  </a:t>
            </a:r>
            <a:r>
              <a:rPr>
                <a:solidFill>
                  <a:srgbClr val="334155"/>
                </a:solidFill>
              </a:rPr>
              <a:t>Clean up LaTeX preambles, eliminate duplicate abstract text, correct citations, and replace naive contribution claims with substantive research achievements.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Arial"/>
              </a:defRPr>
            </a:pPr>
            <a:r>
              <a:t>EXPERIMENTAL PROTOCOL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Experimental Evaluation Gaps: Missing Scientific 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Absence of parameter ablations, statistical error bars, multi-dataset evaluations, and hardware latency metrics.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420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9875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1. Zero Ablations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93392" y="1828800"/>
            <a:ext cx="1143000" cy="219456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MISSING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226771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Ensemble Size C: </a:t>
            </a:r>
            <a:r>
              <a:rPr b="0">
                <a:solidFill>
                  <a:srgbClr val="334155"/>
                </a:solidFill>
              </a:rPr>
              <a:t>C=5 chosen arbitrarily; no evaluation of C=3, 7, 10 to demonstrate trade-offs.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Pruning Threshold M: </a:t>
            </a:r>
            <a:r>
              <a:rPr b="0">
                <a:solidFill>
                  <a:srgbClr val="334155"/>
                </a:solidFill>
              </a:rPr>
              <a:t>M=4 used without sensitivity analysis (why not M=2 or M=6?).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Bit Flip Budget k: </a:t>
            </a:r>
            <a:r>
              <a:rPr b="0">
                <a:solidFill>
                  <a:srgbClr val="334155"/>
                </a:solidFill>
              </a:rPr>
              <a:t>No testing for k &gt; 20 bit flips to evaluate defense collapse boundary.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Reviewer Question: </a:t>
            </a:r>
            <a:r>
              <a:rPr b="0">
                <a:solidFill>
                  <a:srgbClr val="334155"/>
                </a:solidFill>
              </a:rPr>
              <a:t>Reviewers will ask: 'Why C=5?' and the paper currently has no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645920"/>
            <a:ext cx="25420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2" y="1828800"/>
            <a:ext cx="9875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2. Single Dataset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18304" y="1828800"/>
            <a:ext cx="1143000" cy="219456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GENERALIZABILITY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331720"/>
            <a:ext cx="226771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Only CIFAR-10 Reported: </a:t>
            </a:r>
            <a:r>
              <a:rPr b="0">
                <a:solidFill>
                  <a:srgbClr val="334155"/>
                </a:solidFill>
              </a:rPr>
              <a:t>paper.tex only presents CIFAR-10, making it look like a toy benchmark.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Infrastructure Unused: </a:t>
            </a:r>
            <a:r>
              <a:rPr b="0">
                <a:solidFill>
                  <a:srgbClr val="334155"/>
                </a:solidFill>
              </a:rPr>
              <a:t>Repo contains cifar100 and stl10 results folders, yet omitted from paper.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Weak Evaluation: </a:t>
            </a:r>
            <a:r>
              <a:rPr b="0">
                <a:solidFill>
                  <a:srgbClr val="334155"/>
                </a:solidFill>
              </a:rPr>
              <a:t>Single 10-class dataset makes the defense appear narrow and unvalidated on complex domains.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45920"/>
            <a:ext cx="25420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8504" y="1828800"/>
            <a:ext cx="9875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3. No Error Bars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3216" y="1828800"/>
            <a:ext cx="1143000" cy="219456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STATISTICS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331720"/>
            <a:ext cx="226771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Stochastic Sampling: </a:t>
            </a:r>
            <a:r>
              <a:rPr b="0">
                <a:solidFill>
                  <a:srgbClr val="334155"/>
                </a:solidFill>
              </a:rPr>
              <a:t>SBE randomly samples 5 branches; results inherently vary by random seed.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Single Point Estimates: </a:t>
            </a:r>
            <a:r>
              <a:rPr b="0">
                <a:solidFill>
                  <a:srgbClr val="334155"/>
                </a:solidFill>
              </a:rPr>
              <a:t>All tables report single-run numbers with zero standard deviation (± σ).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Statistical Significance: </a:t>
            </a:r>
            <a:r>
              <a:rPr b="0">
                <a:solidFill>
                  <a:srgbClr val="334155"/>
                </a:solidFill>
              </a:rPr>
              <a:t>Cannot determine if a 1.2% delta is real or random sampling noise.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1645920"/>
            <a:ext cx="25420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43416" y="1828800"/>
            <a:ext cx="9875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4. Latency Omission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68128" y="1828800"/>
            <a:ext cx="1143000" cy="219456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331720"/>
            <a:ext cx="226771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Unrealistic Hardware: </a:t>
            </a:r>
            <a:r>
              <a:rPr b="0">
                <a:solidFill>
                  <a:srgbClr val="334155"/>
                </a:solidFill>
              </a:rPr>
              <a:t>Tested on Tesla P100 / H100 servers, not edge hardware (Jetson / RPi).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5x Forward Pass: </a:t>
            </a:r>
            <a:r>
              <a:rPr b="0">
                <a:solidFill>
                  <a:srgbClr val="334155"/>
                </a:solidFill>
              </a:rPr>
              <a:t>SBE runs 5 forward passes vs Aegis early exit (~1-2 passes).</a:t>
            </a:r>
          </a:p>
          <a:p>
            <a:pPr>
              <a:spcAft>
                <a:spcPts val="4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Ignored Overhead: </a:t>
            </a:r>
            <a:r>
              <a:rPr b="0">
                <a:solidFill>
                  <a:srgbClr val="334155"/>
                </a:solidFill>
              </a:rPr>
              <a:t>Paper claims '&lt;5 μs per IC' hash overhead, completely ignoring neural inference latency.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DC2626"/>
                </a:solidFill>
              </a:rPr>
              <a:t>Methodological Imperative:  </a:t>
            </a:r>
            <a:r>
              <a:rPr>
                <a:solidFill>
                  <a:srgbClr val="334155"/>
                </a:solidFill>
              </a:rPr>
              <a:t>A top-tier venue requires multi-seed statistical significance, hyperparameter ablations across C and M, and truthful latency profiling on edge devices.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Arial"/>
              </a:defRPr>
            </a:pPr>
            <a:r>
              <a:t>TRIAGE &amp; ACTION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Comprehensive Priority-Ranked Defect Triage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All 21 identified deficiencies organized by priority, subsystem location, and submission risk level.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6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Helvetica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Helvetica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Defect Description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Helvetica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Subsystem Location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Helvetica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Risk to Acceptance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Helvetica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Remediation Action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 b="1">
                          <a:solidFill>
                            <a:srgbClr val="0F172A"/>
                          </a:solidFill>
                        </a:rPr>
                        <a:t>🔴 P0 Fatal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Software vs. DRAM Rowhammer Threat Model Mismatch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Threat Model /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Immediate Rejection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PyTorchFI simulation or honest re-framing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 b="1">
                          <a:solidFill>
                            <a:srgbClr val="0F172A"/>
                          </a:solidFill>
                        </a:rPr>
                        <a:t>🔴 P0 Fatal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Code Hashes Backbone Conv; Paper Claims IC Heads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Code vs. paper.tex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Immediate Rejection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Refactor code to hash individual IC submodules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 b="1">
                          <a:solidFill>
                            <a:srgbClr val="0F172A"/>
                          </a:solidFill>
                        </a:rPr>
                        <a:t>🔴 P0 Fatal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Adaptive Attack Not Checksum-Aware (Tautological)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Experiment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Reviewer Rebuttal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Evaluate true backbone-targeting adversary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 b="1">
                          <a:solidFill>
                            <a:srgbClr val="0F172A"/>
                          </a:solidFill>
                        </a:rPr>
                        <a:t>🔴 P0 Fatal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 b="1">
                          <a:solidFill>
                            <a:srgbClr val="334155"/>
                          </a:solidFill>
                        </a:rPr>
                        <a:t>paper.tex vs. report.tex Metric Contradictions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Data Tables &amp; Captions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Reproducibility Fraud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Unified 3-seed experimental re-run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 b="1">
                          <a:solidFill>
                            <a:srgbClr val="0F172A"/>
                          </a:solidFill>
                        </a:rPr>
                        <a:t>🔴 P0 Fatal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 b="1">
                          <a:solidFill>
                            <a:srgbClr val="334155"/>
                          </a:solidFill>
                        </a:rPr>
                        <a:t>CIFAR-10 Normalization Statistics Discrepancy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Preprocessing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Invalid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Standardize mean/std with assertions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0F172A"/>
                          </a:solidFill>
                        </a:rPr>
                        <a:t>🟠 P1 Major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Float32 Hashing vs. Claimed Int8 Determinism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Checksum Function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Methodological Flaw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Quantize weights to int8 before hashing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0F172A"/>
                          </a:solidFill>
                        </a:rPr>
                        <a:t>🟠 P1 Major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loss.requires_grad_(True) Hack in Backpropagation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Attack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Invalid Gradient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Restore proper PyTorch computation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0F172A"/>
                          </a:solidFill>
                        </a:rPr>
                        <a:t>🟠 P1 Major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Trojan Training on Test Dataset (Data Leakage)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Training Loop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Data Contamination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Switch trojan training to loader_train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0F172A"/>
                          </a:solidFill>
                        </a:rPr>
                        <a:t>🟠 P1 Major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 b="1">
                          <a:solidFill>
                            <a:srgbClr val="334155"/>
                          </a:solidFill>
                        </a:rPr>
                        <a:t>Table 1 vs. Caption Numbers Discrepancy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Manuscript Drafts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Incompetence Red 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Single source of truth via LaTeX macros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0F172A"/>
                          </a:solidFill>
                        </a:rPr>
                        <a:t>🟠 P1 Major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Wrong Aegis Baseline Paper Citation in report.tex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Bibliography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Scholarly Red Flag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Update citation to Wang et al., USENIX 2023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0F172A"/>
                          </a:solidFill>
                        </a:rPr>
                        <a:t>🟡 P2 Significant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Double Abstract Paragraphs in paper.tex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LaTeX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Desk Reject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Condense to single &lt;=150-word abstract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0F172A"/>
                          </a:solidFill>
                        </a:rPr>
                        <a:t>🟡 P2 Significant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Zero Ablation Studies (C=5, M=4 Unvalidated)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Experiments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Major Revision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Run parameter sweep for C in {1,3,5,7,10}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0F172A"/>
                          </a:solidFill>
                        </a:rPr>
                        <a:t>🟡 P2 Significant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5x Forward Pass Inference Latency Ignored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Unfair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Arial"/>
                        </a:defRPr>
                      </a:pPr>
                      <a:r>
                        <a:rPr>
                          <a:solidFill>
                            <a:srgbClr val="334155"/>
                          </a:solidFill>
                        </a:rPr>
                        <a:t>Benchmark real inference latency in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DC2626"/>
                </a:solidFill>
              </a:rPr>
              <a:t>Triage Policy:  </a:t>
            </a:r>
            <a:r>
              <a:rPr>
                <a:solidFill>
                  <a:srgbClr val="334155"/>
                </a:solidFill>
              </a:rPr>
              <a:t>All 5 P0 issues must be resolved before any manuscript submission. P1 issues should be resolved concurrently in the same sprint.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Arial"/>
              </a:defRPr>
            </a:pPr>
            <a:r>
              <a:t>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Helvetica"/>
              </a:defRPr>
            </a:pPr>
            <a:r>
              <a:t>Audit Summary &amp; Pre-Submission Action Imperatives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ResilientDNN has high potential, but requires rigorous execution to transition from a flawed draft into an unassailable publication.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26464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1. Threat Model &amp;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828800"/>
            <a:ext cx="1143000" cy="219456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309067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Honest Framing / PyTorchFI: </a:t>
            </a:r>
            <a:r>
              <a:rPr b="0">
                <a:solidFill>
                  <a:srgbClr val="334155"/>
                </a:solidFill>
              </a:rPr>
              <a:t>Reframe as in-place tampering defense or integrate PyTorchFI for true post-deployment fault injection.</a:t>
            </a:r>
          </a:p>
          <a:p>
            <a:pPr>
              <a:spcAft>
                <a:spcPts val="6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True IC Hashing: </a:t>
            </a:r>
            <a:r>
              <a:rPr b="0">
                <a:solidFill>
                  <a:srgbClr val="334155"/>
                </a:solidFill>
              </a:rPr>
              <a:t>Refactor checksum logic to hash individual IC submodules, aligning with Algorithm 2 and 512-byte math.</a:t>
            </a:r>
          </a:p>
          <a:p>
            <a:pPr>
              <a:spcAft>
                <a:spcPts val="6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Eliminate Leakage: </a:t>
            </a:r>
            <a:r>
              <a:rPr b="0">
                <a:solidFill>
                  <a:srgbClr val="334155"/>
                </a:solidFill>
              </a:rPr>
              <a:t>Retrain trojans exclusively on loader_train and unify normalization stats across scripts.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4592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82880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2. Empirical Reconciliation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1384" y="1828800"/>
            <a:ext cx="1143000" cy="219456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331720"/>
            <a:ext cx="309067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3-Seed Re-Runs: </a:t>
            </a:r>
            <a:r>
              <a:rPr b="0">
                <a:solidFill>
                  <a:srgbClr val="334155"/>
                </a:solidFill>
              </a:rPr>
              <a:t>Execute clean experimental re-runs with seed = [42, 123, 7] and report mean ± std across all metrics.</a:t>
            </a:r>
          </a:p>
          <a:p>
            <a:pPr>
              <a:spcAft>
                <a:spcPts val="6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Ablation Suite: </a:t>
            </a:r>
            <a:r>
              <a:rPr b="0">
                <a:solidFill>
                  <a:srgbClr val="334155"/>
                </a:solidFill>
              </a:rPr>
              <a:t>Perform ablation on ensemble size C in {1, 3, 5, 7, 10} and pruning threshold M in {0, 4, 8}.</a:t>
            </a:r>
          </a:p>
          <a:p>
            <a:pPr>
              <a:spcAft>
                <a:spcPts val="6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Real Latency Profiling: </a:t>
            </a:r>
            <a:r>
              <a:rPr b="0">
                <a:solidFill>
                  <a:srgbClr val="334155"/>
                </a:solidFill>
              </a:rPr>
              <a:t>Benchmark true forward-pass latency of Aegis early exit vs. SBE on edge/GPU hardware.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4592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93024" y="1828800"/>
            <a:ext cx="18105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3. Manuscript Overhaul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0696" y="1828800"/>
            <a:ext cx="1143000" cy="219456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331720"/>
            <a:ext cx="3090672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Eliminate Desk Rejects: </a:t>
            </a:r>
            <a:r>
              <a:rPr b="0">
                <a:solidFill>
                  <a:srgbClr val="334155"/>
                </a:solidFill>
              </a:rPr>
              <a:t>Deduplicate abstract, fix LaTeX preamble clashes, and generate missing architecture figures.</a:t>
            </a:r>
          </a:p>
          <a:p>
            <a:pPr>
              <a:spcAft>
                <a:spcPts val="6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Harmonize Numbers: </a:t>
            </a:r>
            <a:r>
              <a:rPr b="0">
                <a:solidFill>
                  <a:srgbClr val="334155"/>
                </a:solidFill>
              </a:rPr>
              <a:t>Use single LaTeX macros (_x0008_estASR) to guarantee absolute consistency across tables, captions, and text.</a:t>
            </a:r>
          </a:p>
          <a:p>
            <a:pPr>
              <a:spcAft>
                <a:spcPts val="600"/>
              </a:spcAft>
              <a:defRPr sz="10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Add Related Work: </a:t>
            </a:r>
            <a:r>
              <a:rPr b="0">
                <a:solidFill>
                  <a:srgbClr val="334155"/>
                </a:solidFill>
              </a:rPr>
              <a:t>Incorporate dedicated discussion of prior hardware ECC, attestation, and ensemble defense literature.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5989320"/>
            <a:ext cx="7315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6044184"/>
            <a:ext cx="10408615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Action Plan Available:  </a:t>
            </a:r>
            <a:r>
              <a:rPr>
                <a:solidFill>
                  <a:srgbClr val="334155"/>
                </a:solidFill>
              </a:rPr>
              <a:t>Please refer to the companion presentation 'SHIELD_Improvement_Plan.pptx' for complete code implementations, architectural refactorings, and sprint milestones.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3732</Words>
  <Application>Microsoft Macintosh PowerPoint</Application>
  <PresentationFormat>Widescreen</PresentationFormat>
  <Paragraphs>332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DEVAL SINGHAL</cp:lastModifiedBy>
  <cp:revision>2</cp:revision>
  <dcterms:created xsi:type="dcterms:W3CDTF">2013-01-27T09:14:16Z</dcterms:created>
  <dcterms:modified xsi:type="dcterms:W3CDTF">2026-10-09T04:37:01Z</dcterms:modified>
  <cp:category/>
</cp:coreProperties>
</file>