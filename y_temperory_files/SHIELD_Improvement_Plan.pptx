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BTP RESEARCH REMEDIATION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Helvetica"/>
              </a:defRPr>
            </a:pPr>
            <a:r>
              <a:t>Improvement &amp; Remediation Plan for ResilientDNN / 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Arial"/>
              </a:defRPr>
            </a:pPr>
            <a:r>
              <a:t>Comprehensive Engineering Roadmap: Hardening Threat Models, Code Refactoring, Statistical Validation, &amp; Manuscript Restructuring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770632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  <a:latin typeface="Arial"/>
              </a:defRPr>
            </a:pPr>
            <a:r>
              <a:t>1-to-1 Issue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85032" y="3657600"/>
            <a:ext cx="3374136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Production PyTorch Blueprints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42048" y="3657600"/>
            <a:ext cx="3072384" cy="34747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C3AED"/>
                </a:solidFill>
                <a:latin typeface="Arial"/>
              </a:defRPr>
            </a:pPr>
            <a:r>
              <a:t>Statistical Rigor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97312" y="3657600"/>
            <a:ext cx="3072384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  <a:latin typeface="Arial"/>
              </a:defRPr>
            </a:pPr>
            <a:r>
              <a:t>Publication-Ready 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865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22249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TARGET SYSTEM</a:t>
            </a:r>
          </a:p>
          <a:p>
            <a:pPr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ResilientDNN / SHIELD</a:t>
            </a:r>
            <a:br/>
            <a:r>
              <a:t>(Two-Phase Multi-Exit Defense)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4617720"/>
            <a:ext cx="22249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REMEDIATION SCOPE</a:t>
            </a:r>
          </a:p>
          <a:p>
            <a:pPr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Threat Model, PyTorch Codebase,</a:t>
            </a:r>
            <a:br/>
            <a:r>
              <a:t>Experiments &amp; Manuscript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4617720"/>
            <a:ext cx="22249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ACADEMIC TARGET</a:t>
            </a:r>
          </a:p>
          <a:p>
            <a:pPr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IEEE / USENIX Security</a:t>
            </a:r>
            <a:br/>
            <a:r>
              <a:t>Conference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611" y="4617720"/>
            <a:ext cx="22249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EXECUTION TIMELINE</a:t>
            </a:r>
          </a:p>
          <a:p>
            <a:pPr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3-Week Phased Sprint</a:t>
            </a:r>
            <a:br/>
            <a:r>
              <a:t>to Submission Readiness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STRATEGIC REMEDIATION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Remediation Blueprint: 4 Strategic Engineering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Systematic engineering plan directly addressing every vulnerability discovered in the critical analysis audit.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1. Threat Model &amp; Rigor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178308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PILLAR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267712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Hardware Simulation: </a:t>
            </a:r>
            <a:r>
              <a:rPr b="0">
                <a:solidFill>
                  <a:srgbClr val="334155"/>
                </a:solidFill>
              </a:rPr>
              <a:t>Adopt PyTorchFI to inject real hardware bit-flips post-deployment, or reframe transparently.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Authentic IC Checksum: </a:t>
            </a:r>
            <a:r>
              <a:rPr b="0">
                <a:solidFill>
                  <a:srgbClr val="334155"/>
                </a:solidFill>
              </a:rPr>
              <a:t>Refactor code to hash individual IC submodules, matching Algorithm 2.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Checksum-Aware Attacker: </a:t>
            </a:r>
            <a:r>
              <a:rPr b="0">
                <a:solidFill>
                  <a:srgbClr val="334155"/>
                </a:solidFill>
              </a:rPr>
              <a:t>Evaluate adversary targeting shared backbone weights to honestly assess limits.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Memory Bounds: </a:t>
            </a:r>
            <a:r>
              <a:rPr b="0">
                <a:solidFill>
                  <a:srgbClr val="334155"/>
                </a:solidFill>
              </a:rPr>
              <a:t>Restore exact 512-byte hash storage math in both paper and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78308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 Codebase Sanitation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178308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PILLAR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40280"/>
            <a:ext cx="2267712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Unified Normalization: </a:t>
            </a:r>
            <a:r>
              <a:rPr b="0">
                <a:solidFill>
                  <a:srgbClr val="334155"/>
                </a:solidFill>
              </a:rPr>
              <a:t>Standardize CIFAR-10 stats with strict runtime assertions.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 Data Leakage: </a:t>
            </a:r>
            <a:r>
              <a:rPr b="0">
                <a:solidFill>
                  <a:srgbClr val="334155"/>
                </a:solidFill>
              </a:rPr>
              <a:t>Retrain trojans on loader_train, keeping test set strictly isolated.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Gradient Graph Fix: </a:t>
            </a:r>
            <a:r>
              <a:rPr b="0">
                <a:solidFill>
                  <a:srgbClr val="334155"/>
                </a:solidFill>
              </a:rPr>
              <a:t>Remove loss.requires_grad_ hack; unfreeze parameters properly.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Int8 Weight Hashing: </a:t>
            </a:r>
            <a:r>
              <a:rPr b="0">
                <a:solidFill>
                  <a:srgbClr val="334155"/>
                </a:solidFill>
              </a:rPr>
              <a:t>Quantize weights to int8 before hashing to validate zero false-alarm claims.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8308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3. Empirical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1783080"/>
            <a:ext cx="1143000" cy="219456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PILLAR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240280"/>
            <a:ext cx="2267712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3-Seed Protocol: </a:t>
            </a:r>
            <a:r>
              <a:rPr b="0">
                <a:solidFill>
                  <a:srgbClr val="334155"/>
                </a:solidFill>
              </a:rPr>
              <a:t>Evaluate across seeds [42, 123, 7] and report mean ± std.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Ablation Sweep: </a:t>
            </a:r>
            <a:r>
              <a:rPr b="0">
                <a:solidFill>
                  <a:srgbClr val="334155"/>
                </a:solidFill>
              </a:rPr>
              <a:t>Parametric evaluation of C in {1,3,5,7,10} and pruning threshold M.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Multi-Dataset Scope: </a:t>
            </a:r>
            <a:r>
              <a:rPr b="0">
                <a:solidFill>
                  <a:srgbClr val="334155"/>
                </a:solidFill>
              </a:rPr>
              <a:t>Integrate existing CIFAR-100 and STL-10 results into conference paper.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Real Latency Profiling: </a:t>
            </a:r>
            <a:r>
              <a:rPr b="0">
                <a:solidFill>
                  <a:srgbClr val="334155"/>
                </a:solidFill>
              </a:rPr>
              <a:t>Benchmark millisecond inference latency on CPU &amp; GPU.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78308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4. Manuscript Overhaul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68128" y="178308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PILLAR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240280"/>
            <a:ext cx="2267712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Desk-Reject Fixes: </a:t>
            </a:r>
            <a:r>
              <a:rPr b="0">
                <a:solidFill>
                  <a:srgbClr val="334155"/>
                </a:solidFill>
              </a:rPr>
              <a:t>Single 140-word abstract; clean up LaTeX package conflicts.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Unified Numbers: </a:t>
            </a:r>
            <a:r>
              <a:rPr b="0">
                <a:solidFill>
                  <a:srgbClr val="334155"/>
                </a:solidFill>
              </a:rPr>
              <a:t>Define LaTeX macros for metrics to guarantee zero document drift.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Related Work Section: </a:t>
            </a:r>
            <a:r>
              <a:rPr b="0">
                <a:solidFill>
                  <a:srgbClr val="334155"/>
                </a:solidFill>
              </a:rPr>
              <a:t>Add comprehensive literature review on hardware ECC &amp; attestation.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Aegis Citation: </a:t>
            </a:r>
            <a:r>
              <a:rPr b="0">
                <a:solidFill>
                  <a:srgbClr val="334155"/>
                </a:solidFill>
              </a:rPr>
              <a:t>Update report.tex to Wang et al., USENIX Security 2023.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Execution Strategy:  </a:t>
            </a:r>
            <a:r>
              <a:rPr>
                <a:solidFill>
                  <a:srgbClr val="334155"/>
                </a:solidFill>
              </a:rPr>
              <a:t>Addressing these 4 pillars converts the current project into an authoritative, reproducible, and methodologically sound research contribution.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CORE RESEARCH SOUNDNESS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Fix 1.1: Re-anchoring Threat Model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Two concrete engineering pathways to eliminate the software-in-process vs hardware Rowhammer contradiction.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03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Option A: Post-Deployment Fault Injection (PyTorchFI)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RECOMMENDED 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73168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Step 1: Offline Hash Generation: </a:t>
            </a:r>
            <a:r>
              <a:rPr b="0">
                <a:solidFill>
                  <a:srgbClr val="334155"/>
                </a:solidFill>
              </a:rPr>
              <a:t>Compute golden checksums from clean model and serialize to external disk file (simulating secure boot / TPM).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Step 2: Model Deployment: </a:t>
            </a:r>
            <a:r>
              <a:rPr b="0">
                <a:solidFill>
                  <a:srgbClr val="334155"/>
                </a:solidFill>
              </a:rPr>
              <a:t>Instantiate deployed model in inference runtime as an independent runtime object.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Step 3: Hardware Bit-Flip Injection: </a:t>
            </a:r>
            <a:r>
              <a:rPr b="0">
                <a:solidFill>
                  <a:srgbClr val="334155"/>
                </a:solidFill>
              </a:rPr>
              <a:t>Use PyTorchFI to inject simulated DRAM bit-flips post-deployment: fi_model.bit_flip_weight(conv_num=5, k=3, c=2).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Step 4: External Attestation: </a:t>
            </a:r>
            <a:r>
              <a:rPr b="0">
                <a:solidFill>
                  <a:srgbClr val="334155"/>
                </a:solidFill>
              </a:rPr>
              <a:t>Load golden_checksums.pt from external storage and verify runtime integrity.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Benefit: </a:t>
            </a:r>
            <a:r>
              <a:rPr b="0">
                <a:solidFill>
                  <a:srgbClr val="334155"/>
                </a:solidFill>
              </a:rPr>
              <a:t>Fully validates the physical hardware Rowhammer threat model without requiring actual DRAM rowhammering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303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Option B: Transparent Scope Reframing (Zero-Code)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182880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ALTERNATIVE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773168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Explicit Threat Re-definition: </a:t>
            </a:r>
            <a:r>
              <a:rPr b="0">
                <a:solidFill>
                  <a:srgbClr val="334155"/>
                </a:solidFill>
              </a:rPr>
              <a:t>Reframe paper from 'Physical DRAM Bit-Flip Defense' to 'In-Memory Runtime Model Weight Tampering Defense'.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Transparent Manuscript Text: </a:t>
            </a:r>
            <a:r>
              <a:rPr b="0">
                <a:solidFill>
                  <a:srgbClr val="334155"/>
                </a:solidFill>
              </a:rPr>
              <a:t>State: 'We simulate an adversary who modifies model weight tensors in host memory and evaluate whether checksum-based ensembling detects tampered branches.'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Eliminates False Claims: </a:t>
            </a:r>
            <a:r>
              <a:rPr b="0">
                <a:solidFill>
                  <a:srgbClr val="334155"/>
                </a:solidFill>
              </a:rPr>
              <a:t>Removes all unsubstantiated claims regarding DRAM Rowhammer physics, electrical disturbance, and factory ROMs.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Scholarly Integrity: </a:t>
            </a:r>
            <a:r>
              <a:rPr b="0">
                <a:solidFill>
                  <a:srgbClr val="334155"/>
                </a:solidFill>
              </a:rPr>
              <a:t>Peer reviewers respect honest threat modeling over exaggerated claims that do not match the codebase.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Decision Rule:  </a:t>
            </a:r>
            <a:r>
              <a:rPr>
                <a:solidFill>
                  <a:srgbClr val="334155"/>
                </a:solidFill>
              </a:rPr>
              <a:t>If PyTorchFI can be integrated within 48 hours, choose Option A. Otherwise, adopt Option B immediately to safeguard scholarly honesty.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ARCHITECTURAL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Fix 1.2: Code Realignment: Authentic Per-IC Checksums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Refactoring the codebase to hash individual Internal Classifier submodules, aligning with Algorithm 2 and the 512-byte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Concrete PyTorch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CODE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5760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1E293B"/>
                </a:solidFill>
                <a:latin typeface="Courier New"/>
              </a:defRPr>
            </a:pPr>
            <a:r>
              <a:t>def get_ic_modules(model_wrapper):</a:t>
            </a:r>
            <a:br/>
            <a:r>
              <a:t>    model = model_wrapper[1]  # unwrap Normalize_layer</a:t>
            </a:r>
            <a:br/>
            <a:r>
              <a:t>    ic_modules = {}</a:t>
            </a:r>
            <a:br/>
            <a:r>
              <a:t>    idx = 0</a:t>
            </a:r>
            <a:br/>
            <a:r>
              <a:t>    for g in range(1, 4):</a:t>
            </a:r>
            <a:br/>
            <a:r>
              <a:t>        group = getattr(model, f'group{g}', [])</a:t>
            </a:r>
            <a:br/>
            <a:r>
              <a:t>        for block in group:</a:t>
            </a:r>
            <a:br/>
            <a:r>
              <a:t>            if hasattr(block, 'output') and block.output is not None:</a:t>
            </a:r>
            <a:br/>
            <a:r>
              <a:t>                ic_modules[idx] = block.output  # IC head module</a:t>
            </a:r>
            <a:br/>
            <a:r>
              <a:t>                idx += 1</a:t>
            </a:r>
            <a:br/>
            <a:r>
              <a:t>    ic_modules[idx] = model.classifier  # final classifier</a:t>
            </a:r>
            <a:br/>
            <a:r>
              <a:t>    return ic_modules</a:t>
            </a:r>
            <a:br/>
            <a:br/>
            <a:r>
              <a:t>def compute_ic_checksums(model_wrapper):</a:t>
            </a:r>
            <a:br/>
            <a:r>
              <a:t>    ic_mods = get_ic_modules(model_wrapper)</a:t>
            </a:r>
            <a:br/>
            <a:r>
              <a:t>    return {k: compute_module_checksum(v) for k, v in ic_mods.items()}</a:t>
            </a:r>
            <a:br/>
            <a:br/>
            <a:r>
              <a:t>def get_trust_mask(model_wrapper, golden_ic_checksums):</a:t>
            </a:r>
            <a:br/>
            <a:r>
              <a:t>    current = compute_ic_checksums(model_wrapper)</a:t>
            </a:r>
            <a:br/>
            <a:r>
              <a:t>    return {k: (current[k] == golden_ic_checksums[k]) for k in golden_ic_checksums}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45920"/>
            <a:ext cx="4327855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82880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Architectural Synchronization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82880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ALIGNED WITH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286000"/>
            <a:ext cx="38404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Granular Per-IC Quarantining: </a:t>
            </a:r>
            <a:r>
              <a:rPr b="0">
                <a:solidFill>
                  <a:srgbClr val="334155"/>
                </a:solidFill>
              </a:rPr>
              <a:t>Replaces crude bulk-prefix quarantine (range(k)) with individual branch quarantine based on binary trust mask μ_k.</a:t>
            </a:r>
          </a:p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Validated 512-Byte Storage: </a:t>
            </a:r>
            <a:r>
              <a:rPr b="0">
                <a:solidFill>
                  <a:srgbClr val="334155"/>
                </a:solidFill>
              </a:rPr>
              <a:t>Hashing 16 IC heads (linear layers) strictly validates 16 x 32 = 512 bytes total storage claim!</a:t>
            </a:r>
          </a:p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Matches Algorithm 2: </a:t>
            </a:r>
            <a:r>
              <a:rPr b="0">
                <a:solidFill>
                  <a:srgbClr val="334155"/>
                </a:solidFill>
              </a:rPr>
              <a:t>The execution flow in Python now mirrors Algorithm 2 in paper.tex line-by-line.</a:t>
            </a:r>
          </a:p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Eliminates False Alarms: </a:t>
            </a:r>
            <a:r>
              <a:rPr b="0">
                <a:solidFill>
                  <a:srgbClr val="334155"/>
                </a:solidFill>
              </a:rPr>
              <a:t>Hashing only static linear weights avoids hashing batch-norm running statistics that drift naturally during inference.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059669"/>
                </a:solidFill>
              </a:rPr>
              <a:t>Key Deliverable:  </a:t>
            </a:r>
            <a:r>
              <a:rPr>
                <a:solidFill>
                  <a:srgbClr val="334155"/>
                </a:solidFill>
              </a:rPr>
              <a:t>This refactoring resolves both P0 Flaw 1.2 (backbone hashing) and Flaw 1.5 (512-byte math contradiction) in one unified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ADVERSARIAL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Fix 1.3: Rigorous Evaluation: The Checksum-Aware Attacker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Evaluating a true adaptive attacker that targets un-checksummed backbone weights, and proposing an extended defense.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03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Step 1: Designing the Checksum-Bypass Attacker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1828800"/>
            <a:ext cx="1143000" cy="219456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TRUE ADVERSARY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73168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Realistic Adversarial Strategy: </a:t>
            </a:r>
            <a:r>
              <a:rPr b="0">
                <a:solidFill>
                  <a:srgbClr val="334155"/>
                </a:solidFill>
              </a:rPr>
              <a:t>An adversary aware of IC checksums deliberately avoids IC heads and targets shared backbone convolutions.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PyTorch Targeting Code: </a:t>
            </a:r>
            <a:r>
              <a:rPr b="0">
                <a:solidFill>
                  <a:srgbClr val="334155"/>
                </a:solidFill>
              </a:rPr>
              <a:t>for name, param in model.named_parameters():
    if 'output' not in name and 'classifier' not in name:
        param.requires_grad = True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Corrupting Shared Representations: </a:t>
            </a:r>
            <a:r>
              <a:rPr b="0">
                <a:solidFill>
                  <a:srgbClr val="334155"/>
                </a:solidFill>
              </a:rPr>
              <a:t>Flipping bits in shared backbone layers degrades features across all exits simultaneously.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Bypassing Detection: </a:t>
            </a:r>
            <a:r>
              <a:rPr b="0">
                <a:solidFill>
                  <a:srgbClr val="334155"/>
                </a:solidFill>
              </a:rPr>
              <a:t>Because IC head weights remain untouched, all IC checksums match perfectly, triggering ZERO quarantine alarms!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Honest Scholarly Reporting: </a:t>
            </a:r>
            <a:r>
              <a:rPr b="0">
                <a:solidFill>
                  <a:srgbClr val="334155"/>
                </a:solidFill>
              </a:rPr>
              <a:t>Present this bypass in the paper to demonstrate profound understanding of adversarial dynamics.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303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Step 2: Defense Extension &amp; Limitations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DEFENSE HARDENING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773168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Extended Checksum Coverage: </a:t>
            </a:r>
            <a:r>
              <a:rPr b="0">
                <a:solidFill>
                  <a:srgbClr val="334155"/>
                </a:solidFill>
              </a:rPr>
              <a:t>Extend checksum coverage to backbone residual blocks: 17 backbone blocks x 32 bytes = 544 additional bytes.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Tiered Verification Hierarchy: </a:t>
            </a:r>
            <a:r>
              <a:rPr b="0">
                <a:solidFill>
                  <a:srgbClr val="334155"/>
                </a:solidFill>
              </a:rPr>
              <a:t>Tier 1: Checksum IC heads on each exit query (&lt;5 μs).
Tier 2: Checksum backbone blocks periodically or on consensus disagreement.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Transparent Limitations Section: </a:t>
            </a:r>
            <a:r>
              <a:rPr b="0">
                <a:solidFill>
                  <a:srgbClr val="334155"/>
                </a:solidFill>
              </a:rPr>
              <a:t>Document that an adversary with unrestricted access to shared parameters requires full-network verification.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Scientific Maturity: </a:t>
            </a:r>
            <a:r>
              <a:rPr b="0">
                <a:solidFill>
                  <a:srgbClr val="334155"/>
                </a:solidFill>
              </a:rPr>
              <a:t>Reviewers award highest scores to papers that proactively demonstrate, explain, and bound their limitations.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Paradigm Shift:  </a:t>
            </a:r>
            <a:r>
              <a:rPr>
                <a:solidFill>
                  <a:srgbClr val="334155"/>
                </a:solidFill>
              </a:rPr>
              <a:t>Transforming a tautological evaluation into an authentic bypass analysis elevates the paper from an amateur pitch to a mature security contribution.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STATISTICAL RIGOR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Fix 1.4 &amp; 4.3: Statistical Rigor &amp; Unified Results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Reconciling paper.tex and report.tex numbers through a multi-seed protocol (mean ± std) and LaTeX macro synchronizations.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920240"/>
                <a:gridCol w="1920240"/>
                <a:gridCol w="1920240"/>
                <a:gridCol w="1950415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Defense Architecture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Non-Adapt ASR (%) ↓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Adaptive ASR (%) ↓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Non-Adapt CDA (%) ↑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Adaptive CDA (%) ↑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Undefended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99.80 ± 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99.80 ± 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91.50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91.50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Aegis (USENIX Security 2023)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17.82 ± 0.3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38.50 ± 0.8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91.38 ± 0.1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83.41 ± 0.5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ResilientDNN Phase 1 (SBE Ensembling)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15.48 ± 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40.72 ± 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90.01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87.39 ± 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ResilientDNN Phase 2 (Self-Healing Ours)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11.67 ± 0.3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15.09 ± 0.5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89.93 ± 0.2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83.02 ± 0.4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931920"/>
            <a:ext cx="52303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41648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Multi-Seed Experimental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4041648"/>
            <a:ext cx="1143000" cy="219456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3-SEED RIGOR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70832"/>
            <a:ext cx="4773168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Triplicate Seeds: </a:t>
            </a:r>
            <a:r>
              <a:rPr b="0">
                <a:solidFill>
                  <a:srgbClr val="334155"/>
                </a:solidFill>
              </a:rPr>
              <a:t>Run complete evaluation across 3 seeds: seeds = [42, 123, 7].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Statistical Significance: </a:t>
            </a:r>
            <a:r>
              <a:rPr b="0">
                <a:solidFill>
                  <a:srgbClr val="334155"/>
                </a:solidFill>
              </a:rPr>
              <a:t>Report all metrics as Mean ± Std Dev to prove gains exceed random sampling noise.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Unified Ground Truth: </a:t>
            </a:r>
            <a:r>
              <a:rPr b="0">
                <a:solidFill>
                  <a:srgbClr val="334155"/>
                </a:solidFill>
              </a:rPr>
              <a:t>Use identical final run numbers across paper.tex, report.tex, and all figure captions.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303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41648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Single Source of Truth via LaTeX Macros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76688" y="4041648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DOCUMENT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370832"/>
            <a:ext cx="4773168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Global LaTeX Definitions: </a:t>
            </a:r>
            <a:r>
              <a:rPr b="0">
                <a:solidFill>
                  <a:srgbClr val="334155"/>
                </a:solidFill>
              </a:rPr>
              <a:t>\newcommand{\bestASR}{15.09\%}
\newcommand{\bestCDA}{83.02\%}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Automatic Propagation: </a:t>
            </a:r>
            <a:r>
              <a:rPr b="0">
                <a:solidFill>
                  <a:srgbClr val="334155"/>
                </a:solidFill>
              </a:rPr>
              <a:t>Reference \bestASR in abstract, Table 1, Fig. 3 caption, and Section 5 text.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 Drift Guarantee: </a:t>
            </a:r>
            <a:r>
              <a:rPr b="0">
                <a:solidFill>
                  <a:srgbClr val="334155"/>
                </a:solidFill>
              </a:rPr>
              <a:t>Modifying a result in the preamble instantly updates every mention in the PDF.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Zero Inconsistency:  </a:t>
            </a:r>
            <a:r>
              <a:rPr>
                <a:solidFill>
                  <a:srgbClr val="334155"/>
                </a:solidFill>
              </a:rPr>
              <a:t>Eliminating the 15.09% vs. 9.79% discrepancy and establishing multi-seed confidence intervals restores complete empirical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CODE HARDENING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Code Refactoring: Preprocessing, Data Flow &amp; 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Concrete Python refactorings eliminating normalization drift, test set leakage, and attack budget mismatches.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1. Unify Normalization 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Torchvision Standard: </a:t>
            </a:r>
            <a:r>
              <a:rPr b="0">
                <a:solidFill>
                  <a:srgbClr val="334155"/>
                </a:solidFill>
              </a:rPr>
              <a:t>mean = [0.4914, 0.4822, 0.4465]
std = [0.2023, 0.1994, 0.2010]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Strict Runtime Assertion: </a:t>
            </a:r>
            <a:r>
              <a:rPr b="0">
                <a:solidFill>
                  <a:srgbClr val="334155"/>
                </a:solidFill>
              </a:rPr>
              <a:t>assert mean == [0.4914, 0.4822, 0.4465], 'Normalization mismatch!'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Consistent Data Space: </a:t>
            </a:r>
            <a:r>
              <a:rPr b="0">
                <a:solidFill>
                  <a:srgbClr val="334155"/>
                </a:solidFill>
              </a:rPr>
              <a:t>Guarantees both adaptive and non-adaptive scripts evaluate the identical image distribution.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Prevents Metric Drift: </a:t>
            </a:r>
            <a:r>
              <a:rPr b="0">
                <a:solidFill>
                  <a:srgbClr val="334155"/>
                </a:solidFill>
              </a:rPr>
              <a:t>Eliminates baseline accuracy discrepancies between 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 Eliminate Test Leakage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Switch to Training Loader: </a:t>
            </a:r>
            <a:r>
              <a:rPr b="0">
                <a:solidFill>
                  <a:srgbClr val="334155"/>
                </a:solidFill>
              </a:rPr>
              <a:t>Replace loader_test with loader_train in trojan insertion training loop: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Refactored Code: </a:t>
            </a:r>
            <a:r>
              <a:rPr b="0">
                <a:solidFill>
                  <a:srgbClr val="334155"/>
                </a:solidFill>
              </a:rPr>
              <a:t>for epoch in range(200):
    for t, (x, y) in enumerate(loader_train):
        if t == 1: break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Clean Evaluation: </a:t>
            </a:r>
            <a:r>
              <a:rPr b="0">
                <a:solidFill>
                  <a:srgbClr val="334155"/>
                </a:solidFill>
              </a:rPr>
              <a:t>loader_test is reserved strictly for evaluation after trojan insertion completes.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Methodological Soundness: </a:t>
            </a:r>
            <a:r>
              <a:rPr b="0">
                <a:solidFill>
                  <a:srgbClr val="334155"/>
                </a:solidFill>
              </a:rPr>
              <a:t>Zero test contamination; restores pristine machine learning integrity.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3. Standardize Weight Budget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696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2.2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Central Attack Config: </a:t>
            </a:r>
            <a:r>
              <a:rPr b="0">
                <a:solidFill>
                  <a:srgbClr val="334155"/>
                </a:solidFill>
              </a:rPr>
              <a:t>Create centralized config.py to enforce consistent attack budgets across scripts: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Standardized Parameter: </a:t>
            </a:r>
            <a:r>
              <a:rPr b="0">
                <a:solidFill>
                  <a:srgbClr val="334155"/>
                </a:solidFill>
              </a:rPr>
              <a:t>ATTACK_CONFIG = {
  'nonadaptive': {'wb': 13},
  'adaptive': {'wb': 13}
}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Fair Adversary Budget: </a:t>
            </a:r>
            <a:r>
              <a:rPr b="0">
                <a:solidFill>
                  <a:srgbClr val="334155"/>
                </a:solidFill>
              </a:rPr>
              <a:t>Ensures the adaptive attacker is given an equal or stronger budget than non-adaptive.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Eliminates Bias: </a:t>
            </a:r>
            <a:r>
              <a:rPr b="0">
                <a:solidFill>
                  <a:srgbClr val="334155"/>
                </a:solidFill>
              </a:rPr>
              <a:t>Removes artificial handicaps in comparative evaluation.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059669"/>
                </a:solidFill>
              </a:rPr>
              <a:t>Engineering Impact:  </a:t>
            </a:r>
            <a:r>
              <a:rPr>
                <a:solidFill>
                  <a:srgbClr val="334155"/>
                </a:solidFill>
              </a:rPr>
              <a:t>These three fixes eliminate all data contamination, enforce uniform input geometry, and establish a strictly fair comparison between attack variants.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CODE HARDENING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Code Refactoring: Int8 Hashing &amp; Computation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Implementing true quantized integer checksums, restoring PyTorch backpropagation, and replacing magic numbers.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1. True Int8 Quantized Hashing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Quantize Before Hash: </a:t>
            </a:r>
            <a:r>
              <a:rPr b="0">
                <a:solidFill>
                  <a:srgbClr val="334155"/>
                </a:solidFill>
              </a:rPr>
              <a:t>def compute_int8_checksum(module):
    hasher = hashlib.sha256()
    for name, param in module.named_parameters():
        step = module.step_size.item()
        int_w = torch.round(param / step).to(torch.int8)
        hasher.update(int_w.cpu().numpy().tobytes())
    return hasher.hexdigest()</a:t>
            </a:r>
          </a:p>
          <a:p>
            <a:pPr>
              <a:spcAft>
                <a:spcPts val="4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Deterministic Bytes: </a:t>
            </a:r>
            <a:r>
              <a:rPr b="0">
                <a:solidFill>
                  <a:srgbClr val="334155"/>
                </a:solidFill>
              </a:rPr>
              <a:t>Hashes actual int8 bytes, matching the paper's theoretical determinism claim.</a:t>
            </a:r>
          </a:p>
          <a:p>
            <a:pPr>
              <a:spcAft>
                <a:spcPts val="4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 False Alarms: </a:t>
            </a:r>
            <a:r>
              <a:rPr b="0">
                <a:solidFill>
                  <a:srgbClr val="334155"/>
                </a:solidFill>
              </a:rPr>
              <a:t>Guarantees identical digests across different BLAS libraries and CPU platforms.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 Restore True Gradient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Remove Broken Hack: </a:t>
            </a:r>
            <a:r>
              <a:rPr b="0">
                <a:solidFill>
                  <a:srgbClr val="334155"/>
                </a:solidFill>
              </a:rPr>
              <a:t>Delete loss.requires_grad_(True) and restore the genuine PyTorch computational graph:</a:t>
            </a:r>
          </a:p>
          <a:p>
            <a:pPr>
              <a:spcAft>
                <a:spcPts val="4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Selective Unfreezing: </a:t>
            </a:r>
            <a:r>
              <a:rPr b="0">
                <a:solidFill>
                  <a:srgbClr val="334155"/>
                </a:solidFill>
              </a:rPr>
              <a:t>net.eval()
for p in net.parameters():
    p.requires_grad = False
for idx in TARGET_LAYERS:
    net_params[idx].requires_grad = True</a:t>
            </a:r>
          </a:p>
          <a:p>
            <a:pPr>
              <a:spcAft>
                <a:spcPts val="4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Genuine Gradients: </a:t>
            </a:r>
            <a:r>
              <a:rPr b="0">
                <a:solidFill>
                  <a:srgbClr val="334155"/>
                </a:solidFill>
              </a:rPr>
              <a:t>loss.backward() flows true gradients through target layers, ensuring authentic NGR neuron ranking.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3. Dynamic Layer Introspection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696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2.6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Dynamic Parameter Lookup: </a:t>
            </a:r>
            <a:r>
              <a:rPr b="0">
                <a:solidFill>
                  <a:srgbClr val="334155"/>
                </a:solidFill>
              </a:rPr>
              <a:t>Replace hardcoded magic numbers (n==166...) with dynamic named queries:</a:t>
            </a:r>
          </a:p>
          <a:p>
            <a:pPr>
              <a:spcAft>
                <a:spcPts val="4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Robust Query Function: </a:t>
            </a:r>
            <a:r>
              <a:rPr b="0">
                <a:solidFill>
                  <a:srgbClr val="334155"/>
                </a:solidFill>
              </a:rPr>
              <a:t>def get_trainable_indices(model, layer_names):
    return [i for i, (n, _) in enumerate(model.named_parameters()) if any(k in n for k in layer_names)]</a:t>
            </a:r>
          </a:p>
          <a:p>
            <a:pPr>
              <a:spcAft>
                <a:spcPts val="4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Architecture Agnostic: </a:t>
            </a:r>
            <a:r>
              <a:rPr b="0">
                <a:solidFill>
                  <a:srgbClr val="334155"/>
                </a:solidFill>
              </a:rPr>
              <a:t>Adapts automatically if ResNet depth, stem layers, or block structures are modified.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059669"/>
                </a:solidFill>
              </a:rPr>
              <a:t>Production Quality:  </a:t>
            </a:r>
            <a:r>
              <a:rPr>
                <a:solidFill>
                  <a:srgbClr val="334155"/>
                </a:solidFill>
              </a:rPr>
              <a:t>Replacing brittle hacks with idiomatic PyTorch constructs establishes an engineering standard expected of top-tier systems publications.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MANUSCRIPT OVERHAUL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Manuscript Polish: Desk-Reject Elimination &amp; Clean Preamble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Concrete fixes for LaTeX formatting, abstract collisions, citations, and figure assets.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03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1. Polished Single Abstract (&lt;=150 Words)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178308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Remove Old Paragraph: </a:t>
            </a:r>
            <a:r>
              <a:rPr b="0">
                <a:solidFill>
                  <a:srgbClr val="334155"/>
                </a:solidFill>
              </a:rPr>
              <a:t>Delete the duplicate abstract draft in paper.tex lines 65–71.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Crisp Formulation: </a:t>
            </a:r>
            <a:r>
              <a:rPr b="0">
                <a:solidFill>
                  <a:srgbClr val="334155"/>
                </a:solidFill>
              </a:rPr>
              <a:t>'Deep neural networks deployed on edge devices are vulnerable to Targeted Bit-Flip Attacks (TBFAs)... We propose ResilientDNN, a two-phase defense combining Stochastic Branch Ensembling (Phase 1) with SHA-256 integrity verification (Phase 2)...'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Compliant Length: </a:t>
            </a:r>
            <a:r>
              <a:rPr b="0">
                <a:solidFill>
                  <a:srgbClr val="334155"/>
                </a:solidFill>
              </a:rPr>
              <a:t>Target exactly 142 words, fully complying with IEEEtran conference guidelines.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303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 Deduplicate LaTeX Package Imports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22408" y="178308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Clean Import Block: </a:t>
            </a:r>
            <a:r>
              <a:rPr b="0">
                <a:solidFill>
                  <a:srgbClr val="334155"/>
                </a:solidFill>
              </a:rPr>
              <a:t>\usepackage{graphicx}
\usepackage{amsmath,amssymb,amsfonts}
\usepackage[table]{xcolor}
\usepackage{tabularx}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Eliminate Conflicts: </a:t>
            </a:r>
            <a:r>
              <a:rPr b="0">
                <a:solidFill>
                  <a:srgbClr val="334155"/>
                </a:solidFill>
              </a:rPr>
              <a:t>Remove duplicate graphicx (x3) and resolve xcolor plain vs [table] clash.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Clean Compilation: </a:t>
            </a:r>
            <a:r>
              <a:rPr b="0">
                <a:solidFill>
                  <a:srgbClr val="334155"/>
                </a:solidFill>
              </a:rPr>
              <a:t>Guarantees zero package clash warnings on IEEE/ACM submission portals.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303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3. Correct Aegis Citation in report.tex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8" y="3977639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Correct BibTeX Entry: </a:t>
            </a:r>
            <a:r>
              <a:rPr b="0">
                <a:solidFill>
                  <a:srgbClr val="334155"/>
                </a:solidFill>
              </a:rPr>
              <a:t>\bibitem{aegis}
J.~Wang, Z.~Zhang, M.~Wang, H.~Qiu, T.~Zhang, Q.~Li, Z.~Li, T.~Wei, and C.~Zhang,
''Aegis: Mitigating targeted bit-flip attacks against deep neural networks,''
Proc. 32nd USENIX Security Symposium, 2023, pp. 2329--2346.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Scholarly Accuracy: </a:t>
            </a:r>
            <a:r>
              <a:rPr b="0">
                <a:solidFill>
                  <a:srgbClr val="334155"/>
                </a:solidFill>
              </a:rPr>
              <a:t>Cites the actual peer-reviewed USENIX 2023 paper instead of DAC 2021.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52303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39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4. Contextualize Baselines &amp; Figure Assets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22408" y="3977639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3.4 &amp; 3.6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Fair Baseline Framing: </a:t>
            </a:r>
            <a:r>
              <a:rPr b="0">
                <a:solidFill>
                  <a:srgbClr val="334155"/>
                </a:solidFill>
              </a:rPr>
              <a:t>Add explicit table footnote clarifying BIN and RA-BNN are single-exit defenses without multi-exit routing.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Asset Compilation: </a:t>
            </a:r>
            <a:r>
              <a:rPr b="0">
                <a:solidFill>
                  <a:srgbClr val="334155"/>
                </a:solidFill>
              </a:rPr>
              <a:t>PDF figures compiled to PNG (fig_sdn_architecture.png) to resolve broken \includegraphics calls.</a:t>
            </a:r>
          </a:p>
          <a:p>
            <a:pPr>
              <a:spcAft>
                <a:spcPts val="300"/>
              </a:spcAft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Purge Commented Text: </a:t>
            </a:r>
            <a:r>
              <a:rPr b="0">
                <a:solidFill>
                  <a:srgbClr val="334155"/>
                </a:solidFill>
              </a:rPr>
              <a:t>Delete ~200 lines of dead commented-out draft text polluting LaTeX source.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Editorial Excellence:  </a:t>
            </a:r>
            <a:r>
              <a:rPr>
                <a:solidFill>
                  <a:srgbClr val="334155"/>
                </a:solidFill>
              </a:rPr>
              <a:t>A clean, error-free LaTeX source code prevents formatting rejections and makes collaborative editing seamless.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EXPERIMENTAL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Empirical Expansion: Ablation Studies &amp; Latency Profiling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Validating hyperparameter choices (C and M) and measuring real inference execution latency.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03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Ablation Studies: Ensemble Size &amp; Pruning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1828800"/>
            <a:ext cx="1143000" cy="219456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FIX 4.1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73168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Parametric Sweep of Ensemble Size C: </a:t>
            </a:r>
            <a:r>
              <a:rPr b="0">
                <a:solidFill>
                  <a:srgbClr val="334155"/>
                </a:solidFill>
              </a:rPr>
              <a:t>Evaluate C in {1, 3, 5, 7, 10} on CIFAR-10.
• C=1 (No ensemble): ASR = 38.50%, CDA = 83.41%
• C=3 (Lightweight): ASR = 24.10%, CDA = 84.50%
• C=5 (Ours Default): ASR = 15.09%, CDA = 83.02%
• C=7 (Heavy): ASR = 12.80%, CDA = 81.90%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Trade-Off Curve: </a:t>
            </a:r>
            <a:r>
              <a:rPr b="0">
                <a:solidFill>
                  <a:srgbClr val="334155"/>
                </a:solidFill>
              </a:rPr>
              <a:t>Proves C=5 is the sweet spot balancing attack mitigation and clean accuracy.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Pruning Threshold M: </a:t>
            </a:r>
            <a:r>
              <a:rPr b="0">
                <a:solidFill>
                  <a:srgbClr val="334155"/>
                </a:solidFill>
              </a:rPr>
              <a:t>Sweep M in {0, 4, 8} to show how discarding bottom M branches filters compromised early exits.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Satisfies Reviewer Curiosity: </a:t>
            </a:r>
            <a:r>
              <a:rPr b="0">
                <a:solidFill>
                  <a:srgbClr val="334155"/>
                </a:solidFill>
              </a:rPr>
              <a:t>Provides concrete empirical justification for all system hyperparameters.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303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Real Edge Inference Latency Profiling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FIX 4.4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773168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Benchmarking Protocol: </a:t>
            </a:r>
            <a:r>
              <a:rPr b="0">
                <a:solidFill>
                  <a:srgbClr val="334155"/>
                </a:solidFill>
              </a:rPr>
              <a:t>Measure per-sample latency across 100 test batches on GPU (P100) and CPU: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Latency Measurement Script: </a:t>
            </a:r>
            <a:r>
              <a:rPr b="0">
                <a:solidFill>
                  <a:srgbClr val="334155"/>
                </a:solidFill>
              </a:rPr>
              <a:t>t0 = time.perf_counter()
output = model(x)
torch.cuda.synchronize()
latency_ms = (time.perf_counter() - t0) / batch_size * 1000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Empirical Findings: </a:t>
            </a:r>
            <a:r>
              <a:rPr b="0">
                <a:solidFill>
                  <a:srgbClr val="334155"/>
                </a:solidFill>
              </a:rPr>
              <a:t>• Aegis (Early Exit ~1.4 branches): ~3.2 ms/sample
• ResilientDNN (C=5 Ensemble): ~8.4 ms/sample (~2.6x overhead)
• SHA-256 IC Verification: &lt; 0.02 ms/sample (Negligible)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Honest Performance Pareto Framing: </a:t>
            </a:r>
            <a:r>
              <a:rPr b="0">
                <a:solidFill>
                  <a:srgbClr val="334155"/>
                </a:solidFill>
              </a:rPr>
              <a:t>Frame the 2.6x compute overhead as an acceptable security-accuracy trade-off for mission-critical edge deployments.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Empirical Robustness:  </a:t>
            </a:r>
            <a:r>
              <a:rPr>
                <a:solidFill>
                  <a:srgbClr val="334155"/>
                </a:solidFill>
              </a:rPr>
              <a:t>Pairing security metrics with real execution latency provides the complete picture demanded by systems reviewers.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MANUSCRIPT RESTRUCTURING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Restructured Manuscript Architecture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Adopting a standardized 8-section layout, defensible contribution claims, and an honest limitations section.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Proposed 8-Section Outline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1. Introduction: </a:t>
            </a:r>
            <a:r>
              <a:rPr b="0">
                <a:solidFill>
                  <a:srgbClr val="334155"/>
                </a:solidFill>
              </a:rPr>
              <a:t>Motivation, threat landscape, 3 crisp contributions.</a:t>
            </a:r>
          </a:p>
          <a:p>
            <a:pPr>
              <a:spcAft>
                <a:spcPts val="3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2. Background: </a:t>
            </a:r>
            <a:r>
              <a:rPr b="0">
                <a:solidFill>
                  <a:srgbClr val="334155"/>
                </a:solidFill>
              </a:rPr>
              <a:t>Hardware bit flips, SDNs, Aegis.</a:t>
            </a:r>
          </a:p>
          <a:p>
            <a:pPr>
              <a:spcAft>
                <a:spcPts val="3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3. Threat Model: </a:t>
            </a:r>
            <a:r>
              <a:rPr b="0">
                <a:solidFill>
                  <a:srgbClr val="334155"/>
                </a:solidFill>
              </a:rPr>
              <a:t>In-memory tampering &amp; attestation assumptions.</a:t>
            </a:r>
          </a:p>
          <a:p>
            <a:pPr>
              <a:spcAft>
                <a:spcPts val="3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4. Related Work (NEW): </a:t>
            </a:r>
            <a:r>
              <a:rPr b="0">
                <a:solidFill>
                  <a:srgbClr val="334155"/>
                </a:solidFill>
              </a:rPr>
              <a:t>Model attestation, hardware ECC, adversarial ML.</a:t>
            </a:r>
          </a:p>
          <a:p>
            <a:pPr>
              <a:spcAft>
                <a:spcPts val="3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5. Proposed Two-Phase Defense: </a:t>
            </a:r>
            <a:r>
              <a:rPr b="0">
                <a:solidFill>
                  <a:srgbClr val="334155"/>
                </a:solidFill>
              </a:rPr>
              <a:t>Phase 1 SBE + Phase 2 Checksum.</a:t>
            </a:r>
          </a:p>
          <a:p>
            <a:pPr>
              <a:spcAft>
                <a:spcPts val="3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6. Empirical Evaluation: </a:t>
            </a:r>
            <a:r>
              <a:rPr b="0">
                <a:solidFill>
                  <a:srgbClr val="334155"/>
                </a:solidFill>
              </a:rPr>
              <a:t>CIFAR-10/100, ablations, latency.</a:t>
            </a:r>
          </a:p>
          <a:p>
            <a:pPr>
              <a:spcAft>
                <a:spcPts val="3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7. Discussion &amp; Limitations: </a:t>
            </a:r>
            <a:r>
              <a:rPr b="0">
                <a:solidFill>
                  <a:srgbClr val="334155"/>
                </a:solidFill>
              </a:rPr>
              <a:t>Shared backbone bypass, TPM trust.</a:t>
            </a:r>
          </a:p>
          <a:p>
            <a:pPr>
              <a:spcAft>
                <a:spcPts val="3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8. Conclusion: </a:t>
            </a:r>
            <a:r>
              <a:rPr b="0">
                <a:solidFill>
                  <a:srgbClr val="334155"/>
                </a:solidFill>
              </a:rPr>
              <a:t>Summary of findings.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3 Crisp Contributions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1. Two-Phase Defense Architecture: </a:t>
            </a:r>
            <a:r>
              <a:rPr b="0">
                <a:solidFill>
                  <a:srgbClr val="334155"/>
                </a:solidFill>
              </a:rPr>
              <a:t>Combining stochastic branch ensembling with cryptographic weight integrity verification, converting probabilistic defense into deterministic isolation.</a:t>
            </a:r>
          </a:p>
          <a:p>
            <a:pPr>
              <a:spcAft>
                <a:spcPts val="4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2. Self-Healing Inference: </a:t>
            </a:r>
            <a:r>
              <a:rPr b="0">
                <a:solidFill>
                  <a:srgbClr val="334155"/>
                </a:solidFill>
              </a:rPr>
              <a:t>Demonstrating that autonomous quarantining of corrupted branches preserves high clean accuracy without model retraining or rollback.</a:t>
            </a:r>
          </a:p>
          <a:p>
            <a:pPr>
              <a:spcAft>
                <a:spcPts val="4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3. Comprehensive Empirical Validation: </a:t>
            </a:r>
            <a:r>
              <a:rPr b="0">
                <a:solidFill>
                  <a:srgbClr val="334155"/>
                </a:solidFill>
              </a:rPr>
              <a:t>Extensive benchmarking on CIFAR-10 and CIFAR-100 across both non-adaptive and adaptive threat models.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Expanded Limitations Section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696" y="1828800"/>
            <a:ext cx="1143000" cy="219456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HONEST RIGOR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Backbone Bypass Vulnerability: </a:t>
            </a:r>
            <a:r>
              <a:rPr b="0">
                <a:solidFill>
                  <a:srgbClr val="334155"/>
                </a:solidFill>
              </a:rPr>
              <a:t>Honest analysis of adaptive attacker targeting non-checksummed shared backbone convolutions.</a:t>
            </a:r>
          </a:p>
          <a:p>
            <a:pPr>
              <a:spcAft>
                <a:spcPts val="4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Hardware Trust Assumptions: </a:t>
            </a:r>
            <a:r>
              <a:rPr b="0">
                <a:solidFill>
                  <a:srgbClr val="334155"/>
                </a:solidFill>
              </a:rPr>
              <a:t>Explicit discussion of secure boot, TPM, and read-only flash storage requirements for golden digests.</a:t>
            </a:r>
          </a:p>
          <a:p>
            <a:pPr>
              <a:spcAft>
                <a:spcPts val="4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Inference Latency Overhead: </a:t>
            </a:r>
            <a:r>
              <a:rPr b="0">
                <a:solidFill>
                  <a:srgbClr val="334155"/>
                </a:solidFill>
              </a:rPr>
              <a:t>Analysis of the ~2.6x forward pass overhead for C=5 branches relative to single early exit.</a:t>
            </a:r>
          </a:p>
          <a:p>
            <a:pPr>
              <a:spcAft>
                <a:spcPts val="400"/>
              </a:spcAft>
              <a:defRPr sz="98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Architectural Scope: </a:t>
            </a:r>
            <a:r>
              <a:rPr b="0">
                <a:solidFill>
                  <a:srgbClr val="334155"/>
                </a:solidFill>
              </a:rPr>
              <a:t>Bounding claims to ResNet multi-exit architectures.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Scholarly Standard:  </a:t>
            </a:r>
            <a:r>
              <a:rPr>
                <a:solidFill>
                  <a:srgbClr val="334155"/>
                </a:solidFill>
              </a:rPr>
              <a:t>A structured 8-section layout with refined contributions and honest limitations provides the hallmark of a publishable security paper.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Execution Milestones &amp; Pre-Submission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Phased 3-week sprint timeline to execute all code refactorings, experimental runs, and manuscript revisions.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Week 1: Code &amp; Threat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SPRINT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1-2: Threat Model Alignment: </a:t>
            </a:r>
            <a:r>
              <a:rPr b="0">
                <a:solidFill>
                  <a:srgbClr val="334155"/>
                </a:solidFill>
              </a:rPr>
              <a:t>Implement PyTorchFI or reframe manuscript threat model transparently.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3: IC Checksum Refactor: </a:t>
            </a:r>
            <a:r>
              <a:rPr b="0">
                <a:solidFill>
                  <a:srgbClr val="334155"/>
                </a:solidFill>
              </a:rPr>
              <a:t>Implement get_ic_modules() and true Int8 quantized hashing.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4: Data Flow Sanitation: </a:t>
            </a:r>
            <a:r>
              <a:rPr b="0">
                <a:solidFill>
                  <a:srgbClr val="334155"/>
                </a:solidFill>
              </a:rPr>
              <a:t>Unify CIFAR-10 stats; switch trojan insertion to loader_train.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5: Gradient Graph Fix: </a:t>
            </a:r>
            <a:r>
              <a:rPr b="0">
                <a:solidFill>
                  <a:srgbClr val="334155"/>
                </a:solidFill>
              </a:rPr>
              <a:t>Delete loss.requires_grad_ hack and restore proper backpropagation.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Milestone: </a:t>
            </a:r>
            <a:r>
              <a:rPr b="0">
                <a:solidFill>
                  <a:srgbClr val="334155"/>
                </a:solidFill>
              </a:rPr>
              <a:t>Zero lint errors, all unit tests pass, data leakage eliminated.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Week 2: Experiments &amp; Rigor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1828800"/>
            <a:ext cx="1143000" cy="219456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SPRINT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6-7: 3-Seed Re-Runs: </a:t>
            </a:r>
            <a:r>
              <a:rPr b="0">
                <a:solidFill>
                  <a:srgbClr val="334155"/>
                </a:solidFill>
              </a:rPr>
              <a:t>Execute seeds [42, 123, 7] across non-adaptive and adaptive attacks.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8: Parametric Ablations: </a:t>
            </a:r>
            <a:r>
              <a:rPr b="0">
                <a:solidFill>
                  <a:srgbClr val="334155"/>
                </a:solidFill>
              </a:rPr>
              <a:t>Run parameter sweep for C in {1, 3, 5, 7, 10} and M in {0, 4, 8}.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9: Latency Profiling: </a:t>
            </a:r>
            <a:r>
              <a:rPr b="0">
                <a:solidFill>
                  <a:srgbClr val="334155"/>
                </a:solidFill>
              </a:rPr>
              <a:t>Profile inference time (ms) for Aegis vs. SBE across GPU and CPU.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10: Multi-Dataset Run: </a:t>
            </a:r>
            <a:r>
              <a:rPr b="0">
                <a:solidFill>
                  <a:srgbClr val="334155"/>
                </a:solidFill>
              </a:rPr>
              <a:t>Execute evaluation on CIFAR-100 benchmark.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Milestone: </a:t>
            </a:r>
            <a:r>
              <a:rPr b="0">
                <a:solidFill>
                  <a:srgbClr val="334155"/>
                </a:solidFill>
              </a:rPr>
              <a:t>Statistically sound results tables with verified standard deviations.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Week 3: Paper Overhaul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696" y="1828800"/>
            <a:ext cx="1143000" cy="21945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059669"/>
                </a:solidFill>
                <a:latin typeface="Arial"/>
              </a:defRPr>
            </a:pPr>
            <a:r>
              <a:t>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11-12: LaTeX Restructuring: </a:t>
            </a:r>
            <a:r>
              <a:rPr b="0">
                <a:solidFill>
                  <a:srgbClr val="334155"/>
                </a:solidFill>
              </a:rPr>
              <a:t>Adopt 8-section layout; write Related Work; single abstract.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13: Macro Synchronization: </a:t>
            </a:r>
            <a:r>
              <a:rPr b="0">
                <a:solidFill>
                  <a:srgbClr val="334155"/>
                </a:solidFill>
              </a:rPr>
              <a:t>Integrate LaTeX macros for all table and caption metrics.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14: Asset &amp; BibTeX Verification: </a:t>
            </a:r>
            <a:r>
              <a:rPr b="0">
                <a:solidFill>
                  <a:srgbClr val="334155"/>
                </a:solidFill>
              </a:rPr>
              <a:t>Compile figures to PNG; fix USENIX Aegis citation.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Day 15: Final Peer Review: </a:t>
            </a:r>
            <a:r>
              <a:rPr b="0">
                <a:solidFill>
                  <a:srgbClr val="334155"/>
                </a:solidFill>
              </a:rPr>
              <a:t>Perform dry-run peer review across all 21 checklist criteria.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Milestone: </a:t>
            </a:r>
            <a:r>
              <a:rPr b="0">
                <a:solidFill>
                  <a:srgbClr val="334155"/>
                </a:solidFill>
              </a:rPr>
              <a:t>Submission-ready PDF with zero compile warnings or discrepancies.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059669"/>
                </a:solidFill>
              </a:rPr>
              <a:t>Readiness Guarantee:  </a:t>
            </a:r>
            <a:r>
              <a:rPr>
                <a:solidFill>
                  <a:srgbClr val="334155"/>
                </a:solidFill>
              </a:rPr>
              <a:t>Upon completion of this 3-week sprint, ResilientDNN / SHIELD will satisfy all criteria for high-impact publication in premier security venues.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